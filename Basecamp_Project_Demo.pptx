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08917df-237f-50f6-ee9e-bf489e4c5796}">
          <p14:sldIdLst>
            <p14:sldId id="256"/>
            <p14:sldId id="257"/>
          </p14:sldIdLst>
        </p14:section>
        <p14:section name="Demonstration" id="{892ba0b4-71cf-9800-c6b0-f02b088e92e1}">
          <p14:sldIdLst>
            <p14:sldId id="258"/>
            <p14:sldId id="259"/>
            <p14:sldId id="260"/>
            <p14:sldId id="261"/>
            <p14:sldId id="262"/>
            <p14:sldId id="263"/>
          </p14:sldIdLst>
        </p14:section>
        <p14:section name="Conclusion" id="{755d5927-69f4-e57c-a8bd-4c74f4201618}">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Basecamp is a web-based project management and collaboration tool from 37signals. It replaces scattered email, chat, spreadsheets and shared drives with one shared space per project. In our demo we used it to run our capstone project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Basecamp project is made of these tools. In our demo we used the Message Board, To-dos, Docs &amp; Files, Card Table, Automatic Check-ins and the Calendar.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demo project was the Capstone Project Management System. We set it up the way a real student team would use it, with three members and real tasks: datasets, model training, a frontend dashboard and the final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home is the single dashboard for the whole project. Everything the team needs is one click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tools cover planning and tracking: the card table visualises workflow stages, check-ins collect updates without meetings, and the calendar shows every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Latest Activity feed is a live log of everything that happens in the project, with who did it and when. Nobody has to ask what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Scrolling further down the activity feed shows the full history of the demo, from creating the project to assigning the frontend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flow we followed in the demo: create the project, invite the team, communicate, plan, track and deliver. Each step uses a different Basecamp tool, but all of them live in the same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showed four clear benefits: one place for everything, clear ownership, fewer meetings thanks to check-ins, and full transparency through the activity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Basecamp let our team run the full capstone project from one place. Thank you —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chemeClr val="bg1"/>
        </a:solidFill>
      </p:bgPr>
    </p:bg>
    <p:spTree>
      <p:nvGrpSpPr>
        <p:cNvPr id="1" name=""/>
        <p:cNvGrpSpPr/>
        <p:nvPr/>
      </p:nvGrpSpPr>
      <p:grpSpPr>
        <a:xfrm>
          <a:off x="0" y="0"/>
          <a:ext cx="0" cy="0"/>
          <a:chOff x="0" y="0"/>
          <a:chExt cx="0" cy="0"/>
        </a:xfrm>
      </p:grpSpPr>
      <p:pic>
        <p:nvPicPr>
          <p:cNvPr id="2" name="Image 0" descr="SVKM's NMIMS – Mukesh Patel School of Technology Management &amp; Engineering">    </p:cNvPr>
          <p:cNvPicPr>
            <a:picLocks noChangeAspect="1"/>
          </p:cNvPicPr>
          <p:nvPr/>
        </p:nvPicPr>
        <p:blipFill>
          <a:blip r:embed="rId1"/>
          <a:stretch>
            <a:fillRect/>
          </a:stretch>
        </p:blipFill>
        <p:spPr>
          <a:xfrm>
            <a:off x="4267048" y="109728"/>
            <a:ext cx="3657600" cy="96252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SVKM's NMIMS – Mukesh Patel School of Technology Management &amp; Engineering">    </p:cNvPr>
          <p:cNvPicPr>
            <a:picLocks noChangeAspect="1"/>
          </p:cNvPicPr>
          <p:nvPr/>
        </p:nvPicPr>
        <p:blipFill>
          <a:blip r:embed="rId1"/>
          <a:stretch>
            <a:fillRect/>
          </a:stretch>
        </p:blipFill>
        <p:spPr>
          <a:xfrm>
            <a:off x="4267048" y="109728"/>
            <a:ext cx="3657600" cy="962526"/>
          </a:xfrm>
          <a:prstGeom prst="rect">
            <a:avLst/>
          </a:prstGeom>
        </p:spPr>
      </p:pic>
      <p:sp>
        <p:nvSpPr>
          <p:cNvPr id="3" name="Text 0"/>
          <p:cNvSpPr/>
          <p:nvPr>
            <p:ph idx="101" type="title" hasCustomPrompt="1"/>
          </p:nvPr>
        </p:nvSpPr>
        <p:spPr>
          <a:xfrm>
            <a:off x="548640" y="1207008"/>
            <a:ext cx="11091672" cy="64008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25880"/>
            <a:ext cx="6766560" cy="365760"/>
          </a:xfrm>
          <a:prstGeom prst="rect">
            <a:avLst/>
          </a:prstGeom>
          <a:noFill/>
          <a:ln/>
        </p:spPr>
        <p:txBody>
          <a:bodyPr wrap="square" lIns="0" tIns="0" rIns="0" bIns="0" rtlCol="0" anchor="ctr"/>
          <a:lstStyle/>
          <a:p>
            <a:pPr indent="0" marL="0">
              <a:buNone/>
            </a:pPr>
            <a:r>
              <a:rPr lang="en-US" sz="1600" b="1" spc="100" kern="0" dirty="0">
                <a:solidFill>
                  <a:schemeClr val="accent1"/>
                </a:solidFill>
              </a:rPr>
              <a:t>Project Demonstration · Group 11</a:t>
            </a:r>
            <a:endParaRPr lang="en-US" sz="1600" dirty="0"/>
          </a:p>
        </p:txBody>
      </p:sp>
      <p:sp>
        <p:nvSpPr>
          <p:cNvPr id="3" name="Text 1"/>
          <p:cNvSpPr txBox="1"/>
          <p:nvPr/>
        </p:nvSpPr>
        <p:spPr>
          <a:xfrm>
            <a:off x="548640" y="1691640"/>
            <a:ext cx="6766560" cy="914400"/>
          </a:xfrm>
          <a:prstGeom prst="rect">
            <a:avLst/>
          </a:prstGeom>
          <a:noFill/>
          <a:ln/>
        </p:spPr>
        <p:txBody>
          <a:bodyPr wrap="square" lIns="0" tIns="0" rIns="0" bIns="0" rtlCol="0" anchor="ctr"/>
          <a:lstStyle/>
          <a:p>
            <a:pPr indent="0" marL="0">
              <a:buNone/>
            </a:pPr>
            <a:r>
              <a:rPr lang="en-US" sz="5400" b="1" dirty="0">
                <a:solidFill>
                  <a:schemeClr val="tx2"/>
                </a:solidFill>
                <a:latin typeface="Cambria" pitchFamily="34" charset="0"/>
                <a:ea typeface="Cambria" pitchFamily="34" charset="-122"/>
                <a:cs typeface="Cambria" pitchFamily="34" charset="-120"/>
              </a:rPr>
              <a:t>Basecamp</a:t>
            </a:r>
            <a:endParaRPr lang="en-US" sz="5400" dirty="0"/>
          </a:p>
        </p:txBody>
      </p:sp>
      <p:sp>
        <p:nvSpPr>
          <p:cNvPr id="4" name="Text 2"/>
          <p:cNvSpPr txBox="1"/>
          <p:nvPr/>
        </p:nvSpPr>
        <p:spPr>
          <a:xfrm>
            <a:off x="548640" y="2606040"/>
            <a:ext cx="6766560" cy="457200"/>
          </a:xfrm>
          <a:prstGeom prst="rect">
            <a:avLst/>
          </a:prstGeom>
          <a:noFill/>
          <a:ln/>
        </p:spPr>
        <p:txBody>
          <a:bodyPr wrap="square" lIns="0" tIns="0" rIns="0" bIns="0" rtlCol="0" anchor="ctr"/>
          <a:lstStyle/>
          <a:p>
            <a:pPr indent="0" marL="0">
              <a:buNone/>
            </a:pPr>
            <a:r>
              <a:rPr lang="en-US" sz="1800" i="1" dirty="0">
                <a:solidFill>
                  <a:schemeClr val="accent5"/>
                </a:solidFill>
              </a:rPr>
              <a:t>Managing a Capstone Project with an all-in-one collaboration tool</a:t>
            </a:r>
            <a:endParaRPr lang="en-US" sz="1800" dirty="0"/>
          </a:p>
        </p:txBody>
      </p:sp>
      <p:sp>
        <p:nvSpPr>
          <p:cNvPr id="5" name="Text 3"/>
          <p:cNvSpPr txBox="1"/>
          <p:nvPr/>
        </p:nvSpPr>
        <p:spPr>
          <a:xfrm>
            <a:off x="548640" y="3337560"/>
            <a:ext cx="6766560" cy="41148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What is Basecamp?</a:t>
            </a:r>
            <a:endParaRPr lang="en-US" sz="2200" dirty="0"/>
          </a:p>
        </p:txBody>
      </p:sp>
      <p:sp>
        <p:nvSpPr>
          <p:cNvPr id="6" name="Text 4"/>
          <p:cNvSpPr txBox="1"/>
          <p:nvPr/>
        </p:nvSpPr>
        <p:spPr>
          <a:xfrm>
            <a:off x="548640" y="3794760"/>
            <a:ext cx="6766560" cy="219456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Basecamp is a web-based project management and team collaboration platform built by 37signals. Instead of spreading work across email threads, chat apps, spreadsheets and shared drives, Basecamp puts everything a project needs in one place: discussions, tasks, files, schedules and status updates. Every project gets its own space where the whole team can see who is doing what, by when, and what has changed.</a:t>
            </a:r>
            <a:endParaRPr lang="en-US" sz="1500" dirty="0"/>
          </a:p>
        </p:txBody>
      </p:sp>
      <p:sp>
        <p:nvSpPr>
          <p:cNvPr id="7" name="At a glance card"/>
          <p:cNvSpPr/>
          <p:nvPr/>
        </p:nvSpPr>
        <p:spPr>
          <a:xfrm>
            <a:off x="7863840" y="1417320"/>
            <a:ext cx="3776472" cy="4754880"/>
          </a:xfrm>
          <a:prstGeom prst="roundRect">
            <a:avLst>
              <a:gd name="adj" fmla="val 1937"/>
            </a:avLst>
          </a:prstGeom>
          <a:solidFill>
            <a:schemeClr val="bg2"/>
          </a:solidFill>
          <a:ln w="12700">
            <a:solidFill>
              <a:schemeClr val="bg2"/>
            </a:solidFill>
            <a:prstDash val="solid"/>
          </a:ln>
        </p:spPr>
      </p:sp>
      <p:sp>
        <p:nvSpPr>
          <p:cNvPr id="8" name="Text 6"/>
          <p:cNvSpPr txBox="1"/>
          <p:nvPr/>
        </p:nvSpPr>
        <p:spPr>
          <a:xfrm>
            <a:off x="8138160" y="1600200"/>
            <a:ext cx="3291840" cy="41148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At a glance</a:t>
            </a:r>
            <a:endParaRPr lang="en-US" sz="1800" dirty="0"/>
          </a:p>
        </p:txBody>
      </p:sp>
      <p:sp>
        <p:nvSpPr>
          <p:cNvPr id="9" name="All-in-one circle"/>
          <p:cNvSpPr/>
          <p:nvPr/>
        </p:nvSpPr>
        <p:spPr>
          <a:xfrm>
            <a:off x="8138160" y="2148840"/>
            <a:ext cx="548640" cy="548640"/>
          </a:xfrm>
          <a:prstGeom prst="ellipse">
            <a:avLst/>
          </a:prstGeom>
          <a:solidFill>
            <a:schemeClr val="accent1"/>
          </a:solidFill>
          <a:ln w="12700">
            <a:solidFill>
              <a:schemeClr val="accent1"/>
            </a:solidFill>
            <a:prstDash val="solid"/>
          </a:ln>
        </p:spPr>
      </p:sp>
      <p:pic>
        <p:nvPicPr>
          <p:cNvPr id="10" name="All-in-one icon" descr="All-in-one">    </p:cNvPr>
          <p:cNvPicPr>
            <a:picLocks noChangeAspect="1"/>
          </p:cNvPicPr>
          <p:nvPr/>
        </p:nvPicPr>
        <p:blipFill>
          <a:blip r:embed="rId1"/>
          <a:stretch>
            <a:fillRect/>
          </a:stretch>
        </p:blipFill>
        <p:spPr>
          <a:xfrm>
            <a:off x="8280806" y="2291486"/>
            <a:ext cx="263347" cy="263347"/>
          </a:xfrm>
          <a:prstGeom prst="rect">
            <a:avLst/>
          </a:prstGeom>
        </p:spPr>
      </p:pic>
      <p:sp>
        <p:nvSpPr>
          <p:cNvPr id="11" name="Text 8"/>
          <p:cNvSpPr txBox="1"/>
          <p:nvPr/>
        </p:nvSpPr>
        <p:spPr>
          <a:xfrm>
            <a:off x="8869680" y="2075688"/>
            <a:ext cx="2606040" cy="868680"/>
          </a:xfrm>
          <a:prstGeom prst="rect">
            <a:avLst/>
          </a:prstGeom>
          <a:noFill/>
          <a:ln/>
        </p:spPr>
        <p:txBody>
          <a:bodyPr wrap="square" lIns="0" tIns="0" rIns="0" bIns="0" rtlCol="0" anchor="t"/>
          <a:lstStyle/>
          <a:p>
            <a:pPr indent="0" marL="0">
              <a:buNone/>
            </a:pPr>
            <a:r>
              <a:rPr lang="en-US" sz="1500" b="1" dirty="0">
                <a:solidFill>
                  <a:schemeClr val="tx2"/>
                </a:solidFill>
              </a:rPr>
              <a:t>All-in-one</a:t>
            </a:r>
            <a:endParaRPr lang="en-US" sz="1500" dirty="0"/>
          </a:p>
          <a:p>
            <a:pPr indent="0" marL="0">
              <a:buNone/>
            </a:pPr>
            <a:r>
              <a:rPr lang="en-US" sz="1300" dirty="0">
                <a:solidFill>
                  <a:schemeClr val="tx1"/>
                </a:solidFill>
              </a:rPr>
              <a:t>Messages, to-dos, files, calendar and chat in a single project</a:t>
            </a:r>
            <a:endParaRPr lang="en-US" sz="1500" dirty="0"/>
          </a:p>
        </p:txBody>
      </p:sp>
      <p:sp>
        <p:nvSpPr>
          <p:cNvPr id="12" name="Built for teams circle"/>
          <p:cNvSpPr/>
          <p:nvPr/>
        </p:nvSpPr>
        <p:spPr>
          <a:xfrm>
            <a:off x="8138160" y="3136392"/>
            <a:ext cx="548640" cy="548640"/>
          </a:xfrm>
          <a:prstGeom prst="ellipse">
            <a:avLst/>
          </a:prstGeom>
          <a:solidFill>
            <a:schemeClr val="accent1"/>
          </a:solidFill>
          <a:ln w="12700">
            <a:solidFill>
              <a:schemeClr val="accent1"/>
            </a:solidFill>
            <a:prstDash val="solid"/>
          </a:ln>
        </p:spPr>
      </p:sp>
      <p:pic>
        <p:nvPicPr>
          <p:cNvPr id="13" name="Built for teams icon" descr="Built for teams">    </p:cNvPr>
          <p:cNvPicPr>
            <a:picLocks noChangeAspect="1"/>
          </p:cNvPicPr>
          <p:nvPr/>
        </p:nvPicPr>
        <p:blipFill>
          <a:blip r:embed="rId2"/>
          <a:stretch>
            <a:fillRect/>
          </a:stretch>
        </p:blipFill>
        <p:spPr>
          <a:xfrm>
            <a:off x="8280806" y="3279038"/>
            <a:ext cx="263347" cy="263347"/>
          </a:xfrm>
          <a:prstGeom prst="rect">
            <a:avLst/>
          </a:prstGeom>
        </p:spPr>
      </p:pic>
      <p:sp>
        <p:nvSpPr>
          <p:cNvPr id="14" name="Text 10"/>
          <p:cNvSpPr txBox="1"/>
          <p:nvPr/>
        </p:nvSpPr>
        <p:spPr>
          <a:xfrm>
            <a:off x="8869680" y="3063240"/>
            <a:ext cx="2606040" cy="868680"/>
          </a:xfrm>
          <a:prstGeom prst="rect">
            <a:avLst/>
          </a:prstGeom>
          <a:noFill/>
          <a:ln/>
        </p:spPr>
        <p:txBody>
          <a:bodyPr wrap="square" lIns="0" tIns="0" rIns="0" bIns="0" rtlCol="0" anchor="t"/>
          <a:lstStyle/>
          <a:p>
            <a:pPr indent="0" marL="0">
              <a:buNone/>
            </a:pPr>
            <a:r>
              <a:rPr lang="en-US" sz="1500" b="1" dirty="0">
                <a:solidFill>
                  <a:schemeClr val="tx2"/>
                </a:solidFill>
              </a:rPr>
              <a:t>Built for teams</a:t>
            </a:r>
            <a:endParaRPr lang="en-US" sz="1500" dirty="0"/>
          </a:p>
          <a:p>
            <a:pPr indent="0" marL="0">
              <a:buNone/>
            </a:pPr>
            <a:r>
              <a:rPr lang="en-US" sz="1300" dirty="0">
                <a:solidFill>
                  <a:schemeClr val="tx1"/>
                </a:solidFill>
              </a:rPr>
              <a:t>Invite members, assign work, notify the right people</a:t>
            </a:r>
            <a:endParaRPr lang="en-US" sz="1500" dirty="0"/>
          </a:p>
        </p:txBody>
      </p:sp>
      <p:sp>
        <p:nvSpPr>
          <p:cNvPr id="15" name="Transparent circle"/>
          <p:cNvSpPr/>
          <p:nvPr/>
        </p:nvSpPr>
        <p:spPr>
          <a:xfrm>
            <a:off x="8138160" y="4123944"/>
            <a:ext cx="548640" cy="548640"/>
          </a:xfrm>
          <a:prstGeom prst="ellipse">
            <a:avLst/>
          </a:prstGeom>
          <a:solidFill>
            <a:schemeClr val="accent1"/>
          </a:solidFill>
          <a:ln w="12700">
            <a:solidFill>
              <a:schemeClr val="accent1"/>
            </a:solidFill>
            <a:prstDash val="solid"/>
          </a:ln>
        </p:spPr>
      </p:sp>
      <p:pic>
        <p:nvPicPr>
          <p:cNvPr id="16" name="Transparent icon" descr="Transparent">    </p:cNvPr>
          <p:cNvPicPr>
            <a:picLocks noChangeAspect="1"/>
          </p:cNvPicPr>
          <p:nvPr/>
        </p:nvPicPr>
        <p:blipFill>
          <a:blip r:embed="rId3"/>
          <a:stretch>
            <a:fillRect/>
          </a:stretch>
        </p:blipFill>
        <p:spPr>
          <a:xfrm>
            <a:off x="8280806" y="4266590"/>
            <a:ext cx="263347" cy="263347"/>
          </a:xfrm>
          <a:prstGeom prst="rect">
            <a:avLst/>
          </a:prstGeom>
        </p:spPr>
      </p:pic>
      <p:sp>
        <p:nvSpPr>
          <p:cNvPr id="17" name="Text 12"/>
          <p:cNvSpPr txBox="1"/>
          <p:nvPr/>
        </p:nvSpPr>
        <p:spPr>
          <a:xfrm>
            <a:off x="8869680" y="4050792"/>
            <a:ext cx="2606040" cy="868680"/>
          </a:xfrm>
          <a:prstGeom prst="rect">
            <a:avLst/>
          </a:prstGeom>
          <a:noFill/>
          <a:ln/>
        </p:spPr>
        <p:txBody>
          <a:bodyPr wrap="square" lIns="0" tIns="0" rIns="0" bIns="0" rtlCol="0" anchor="t"/>
          <a:lstStyle/>
          <a:p>
            <a:pPr indent="0" marL="0">
              <a:buNone/>
            </a:pPr>
            <a:r>
              <a:rPr lang="en-US" sz="1500" b="1" dirty="0">
                <a:solidFill>
                  <a:schemeClr val="tx2"/>
                </a:solidFill>
              </a:rPr>
              <a:t>Transparent</a:t>
            </a:r>
            <a:endParaRPr lang="en-US" sz="1500" dirty="0"/>
          </a:p>
          <a:p>
            <a:pPr indent="0" marL="0">
              <a:buNone/>
            </a:pPr>
            <a:r>
              <a:rPr lang="en-US" sz="1300" dirty="0">
                <a:solidFill>
                  <a:schemeClr val="tx1"/>
                </a:solidFill>
              </a:rPr>
              <a:t>A live activity feed shows every change as it happens</a:t>
            </a:r>
            <a:endParaRPr lang="en-US" sz="1500" dirty="0"/>
          </a:p>
        </p:txBody>
      </p:sp>
      <p:sp>
        <p:nvSpPr>
          <p:cNvPr id="18" name="Asynchronous circle"/>
          <p:cNvSpPr/>
          <p:nvPr/>
        </p:nvSpPr>
        <p:spPr>
          <a:xfrm>
            <a:off x="8138160" y="5111496"/>
            <a:ext cx="548640" cy="548640"/>
          </a:xfrm>
          <a:prstGeom prst="ellipse">
            <a:avLst/>
          </a:prstGeom>
          <a:solidFill>
            <a:schemeClr val="accent1"/>
          </a:solidFill>
          <a:ln w="12700">
            <a:solidFill>
              <a:schemeClr val="accent1"/>
            </a:solidFill>
            <a:prstDash val="solid"/>
          </a:ln>
        </p:spPr>
      </p:sp>
      <p:pic>
        <p:nvPicPr>
          <p:cNvPr id="19" name="Asynchronous icon" descr="Asynchronous">    </p:cNvPr>
          <p:cNvPicPr>
            <a:picLocks noChangeAspect="1"/>
          </p:cNvPicPr>
          <p:nvPr/>
        </p:nvPicPr>
        <p:blipFill>
          <a:blip r:embed="rId4"/>
          <a:stretch>
            <a:fillRect/>
          </a:stretch>
        </p:blipFill>
        <p:spPr>
          <a:xfrm>
            <a:off x="8280806" y="5254142"/>
            <a:ext cx="263347" cy="263347"/>
          </a:xfrm>
          <a:prstGeom prst="rect">
            <a:avLst/>
          </a:prstGeom>
        </p:spPr>
      </p:pic>
      <p:sp>
        <p:nvSpPr>
          <p:cNvPr id="20" name="Text 14"/>
          <p:cNvSpPr txBox="1"/>
          <p:nvPr/>
        </p:nvSpPr>
        <p:spPr>
          <a:xfrm>
            <a:off x="8869680" y="5038344"/>
            <a:ext cx="2606040" cy="868680"/>
          </a:xfrm>
          <a:prstGeom prst="rect">
            <a:avLst/>
          </a:prstGeom>
          <a:noFill/>
          <a:ln/>
        </p:spPr>
        <p:txBody>
          <a:bodyPr wrap="square" lIns="0" tIns="0" rIns="0" bIns="0" rtlCol="0" anchor="t"/>
          <a:lstStyle/>
          <a:p>
            <a:pPr indent="0" marL="0">
              <a:buNone/>
            </a:pPr>
            <a:r>
              <a:rPr lang="en-US" sz="1500" b="1" dirty="0">
                <a:solidFill>
                  <a:schemeClr val="tx2"/>
                </a:solidFill>
              </a:rPr>
              <a:t>Asynchronous</a:t>
            </a:r>
            <a:endParaRPr lang="en-US" sz="1500" dirty="0"/>
          </a:p>
          <a:p>
            <a:pPr indent="0" marL="0">
              <a:buNone/>
            </a:pPr>
            <a:r>
              <a:rPr lang="en-US" sz="1300" dirty="0">
                <a:solidFill>
                  <a:schemeClr val="tx1"/>
                </a:solidFill>
              </a:rPr>
              <a:t>Automatic check-ins replace routine status meetings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1207008"/>
            <a:ext cx="11091672"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The building blocks of a Basecamp project</a:t>
            </a:r>
            <a:endParaRPr lang="en-US" sz="3000" dirty="0"/>
          </a:p>
        </p:txBody>
      </p:sp>
      <p:sp>
        <p:nvSpPr>
          <p:cNvPr id="3" name="Message Board card"/>
          <p:cNvSpPr/>
          <p:nvPr/>
        </p:nvSpPr>
        <p:spPr>
          <a:xfrm>
            <a:off x="548640" y="2103120"/>
            <a:ext cx="2615184" cy="2011680"/>
          </a:xfrm>
          <a:prstGeom prst="roundRect">
            <a:avLst>
              <a:gd name="adj" fmla="val 3636"/>
            </a:avLst>
          </a:prstGeom>
          <a:solidFill>
            <a:schemeClr val="bg2"/>
          </a:solidFill>
          <a:ln w="12700">
            <a:solidFill>
              <a:schemeClr val="bg2"/>
            </a:solidFill>
            <a:prstDash val="solid"/>
          </a:ln>
        </p:spPr>
      </p:sp>
      <p:sp>
        <p:nvSpPr>
          <p:cNvPr id="4" name="Message Board circle"/>
          <p:cNvSpPr/>
          <p:nvPr/>
        </p:nvSpPr>
        <p:spPr>
          <a:xfrm>
            <a:off x="777240" y="2331720"/>
            <a:ext cx="594360" cy="594360"/>
          </a:xfrm>
          <a:prstGeom prst="ellipse">
            <a:avLst/>
          </a:prstGeom>
          <a:solidFill>
            <a:schemeClr val="accent1"/>
          </a:solidFill>
          <a:ln w="12700">
            <a:solidFill>
              <a:schemeClr val="accent1"/>
            </a:solidFill>
            <a:prstDash val="solid"/>
          </a:ln>
        </p:spPr>
      </p:sp>
      <p:pic>
        <p:nvPicPr>
          <p:cNvPr id="5" name="Message Board icon" descr="Message Board">    </p:cNvPr>
          <p:cNvPicPr>
            <a:picLocks noChangeAspect="1"/>
          </p:cNvPicPr>
          <p:nvPr/>
        </p:nvPicPr>
        <p:blipFill>
          <a:blip r:embed="rId1"/>
          <a:stretch>
            <a:fillRect/>
          </a:stretch>
        </p:blipFill>
        <p:spPr>
          <a:xfrm>
            <a:off x="931774" y="2486254"/>
            <a:ext cx="285293" cy="285293"/>
          </a:xfrm>
          <a:prstGeom prst="rect">
            <a:avLst/>
          </a:prstGeom>
        </p:spPr>
      </p:pic>
      <p:sp>
        <p:nvSpPr>
          <p:cNvPr id="6" name="Text 3"/>
          <p:cNvSpPr txBox="1"/>
          <p:nvPr/>
        </p:nvSpPr>
        <p:spPr>
          <a:xfrm>
            <a:off x="777240" y="3017520"/>
            <a:ext cx="2157984" cy="365760"/>
          </a:xfrm>
          <a:prstGeom prst="rect">
            <a:avLst/>
          </a:prstGeom>
          <a:noFill/>
          <a:ln/>
        </p:spPr>
        <p:txBody>
          <a:bodyPr wrap="square" lIns="0" tIns="0" rIns="0" bIns="0" rtlCol="0" anchor="ctr"/>
          <a:lstStyle/>
          <a:p>
            <a:pPr indent="0" marL="0">
              <a:buNone/>
            </a:pPr>
            <a:r>
              <a:rPr lang="en-US" sz="1600" b="1" dirty="0">
                <a:solidFill>
                  <a:schemeClr val="tx2"/>
                </a:solidFill>
              </a:rPr>
              <a:t>Message Board</a:t>
            </a:r>
            <a:endParaRPr lang="en-US" sz="1600" dirty="0"/>
          </a:p>
        </p:txBody>
      </p:sp>
      <p:sp>
        <p:nvSpPr>
          <p:cNvPr id="7" name="Text 4"/>
          <p:cNvSpPr txBox="1"/>
          <p:nvPr/>
        </p:nvSpPr>
        <p:spPr>
          <a:xfrm>
            <a:off x="777240" y="3383280"/>
            <a:ext cx="2157984" cy="640080"/>
          </a:xfrm>
          <a:prstGeom prst="rect">
            <a:avLst/>
          </a:prstGeom>
          <a:noFill/>
          <a:ln/>
        </p:spPr>
        <p:txBody>
          <a:bodyPr wrap="square" lIns="0" tIns="0" rIns="0" bIns="0" rtlCol="0" anchor="t"/>
          <a:lstStyle/>
          <a:p>
            <a:pPr indent="0" marL="0">
              <a:buNone/>
            </a:pPr>
            <a:r>
              <a:rPr lang="en-US" sz="1300" dirty="0">
                <a:solidFill>
                  <a:schemeClr val="tx1"/>
                </a:solidFill>
              </a:rPr>
              <a:t>Announcements and threaded discussions in one place</a:t>
            </a:r>
            <a:endParaRPr lang="en-US" sz="1300" dirty="0"/>
          </a:p>
        </p:txBody>
      </p:sp>
      <p:sp>
        <p:nvSpPr>
          <p:cNvPr id="8" name="To-dos card"/>
          <p:cNvSpPr/>
          <p:nvPr/>
        </p:nvSpPr>
        <p:spPr>
          <a:xfrm>
            <a:off x="3374136" y="2103120"/>
            <a:ext cx="2615184" cy="2011680"/>
          </a:xfrm>
          <a:prstGeom prst="roundRect">
            <a:avLst>
              <a:gd name="adj" fmla="val 3636"/>
            </a:avLst>
          </a:prstGeom>
          <a:solidFill>
            <a:schemeClr val="bg2"/>
          </a:solidFill>
          <a:ln w="12700">
            <a:solidFill>
              <a:schemeClr val="bg2"/>
            </a:solidFill>
            <a:prstDash val="solid"/>
          </a:ln>
        </p:spPr>
      </p:sp>
      <p:sp>
        <p:nvSpPr>
          <p:cNvPr id="9" name="To-dos circle"/>
          <p:cNvSpPr/>
          <p:nvPr/>
        </p:nvSpPr>
        <p:spPr>
          <a:xfrm>
            <a:off x="3602736" y="2331720"/>
            <a:ext cx="594360" cy="594360"/>
          </a:xfrm>
          <a:prstGeom prst="ellipse">
            <a:avLst/>
          </a:prstGeom>
          <a:solidFill>
            <a:schemeClr val="accent2"/>
          </a:solidFill>
          <a:ln w="12700">
            <a:solidFill>
              <a:schemeClr val="accent2"/>
            </a:solidFill>
            <a:prstDash val="solid"/>
          </a:ln>
        </p:spPr>
      </p:sp>
      <p:pic>
        <p:nvPicPr>
          <p:cNvPr id="10" name="To-dos icon" descr="To-dos">    </p:cNvPr>
          <p:cNvPicPr>
            <a:picLocks noChangeAspect="1"/>
          </p:cNvPicPr>
          <p:nvPr/>
        </p:nvPicPr>
        <p:blipFill>
          <a:blip r:embed="rId2"/>
          <a:stretch>
            <a:fillRect/>
          </a:stretch>
        </p:blipFill>
        <p:spPr>
          <a:xfrm>
            <a:off x="3757270" y="2486254"/>
            <a:ext cx="285293" cy="285293"/>
          </a:xfrm>
          <a:prstGeom prst="rect">
            <a:avLst/>
          </a:prstGeom>
        </p:spPr>
      </p:pic>
      <p:sp>
        <p:nvSpPr>
          <p:cNvPr id="11" name="Text 7"/>
          <p:cNvSpPr txBox="1"/>
          <p:nvPr/>
        </p:nvSpPr>
        <p:spPr>
          <a:xfrm>
            <a:off x="3602736" y="3017520"/>
            <a:ext cx="2157984" cy="365760"/>
          </a:xfrm>
          <a:prstGeom prst="rect">
            <a:avLst/>
          </a:prstGeom>
          <a:noFill/>
          <a:ln/>
        </p:spPr>
        <p:txBody>
          <a:bodyPr wrap="square" lIns="0" tIns="0" rIns="0" bIns="0" rtlCol="0" anchor="ctr"/>
          <a:lstStyle/>
          <a:p>
            <a:pPr indent="0" marL="0">
              <a:buNone/>
            </a:pPr>
            <a:r>
              <a:rPr lang="en-US" sz="1600" b="1" dirty="0">
                <a:solidFill>
                  <a:schemeClr val="tx2"/>
                </a:solidFill>
              </a:rPr>
              <a:t>To-dos</a:t>
            </a:r>
            <a:endParaRPr lang="en-US" sz="1600" dirty="0"/>
          </a:p>
        </p:txBody>
      </p:sp>
      <p:sp>
        <p:nvSpPr>
          <p:cNvPr id="12" name="Text 8"/>
          <p:cNvSpPr txBox="1"/>
          <p:nvPr/>
        </p:nvSpPr>
        <p:spPr>
          <a:xfrm>
            <a:off x="3602736" y="3383280"/>
            <a:ext cx="2157984" cy="640080"/>
          </a:xfrm>
          <a:prstGeom prst="rect">
            <a:avLst/>
          </a:prstGeom>
          <a:noFill/>
          <a:ln/>
        </p:spPr>
        <p:txBody>
          <a:bodyPr wrap="square" lIns="0" tIns="0" rIns="0" bIns="0" rtlCol="0" anchor="t"/>
          <a:lstStyle/>
          <a:p>
            <a:pPr indent="0" marL="0">
              <a:buNone/>
            </a:pPr>
            <a:r>
              <a:rPr lang="en-US" sz="1300" dirty="0">
                <a:solidFill>
                  <a:schemeClr val="tx1"/>
                </a:solidFill>
              </a:rPr>
              <a:t>Task lists with assignees, due dates and subtasks</a:t>
            </a:r>
            <a:endParaRPr lang="en-US" sz="1300" dirty="0"/>
          </a:p>
        </p:txBody>
      </p:sp>
      <p:sp>
        <p:nvSpPr>
          <p:cNvPr id="13" name="Docs &amp; Files card"/>
          <p:cNvSpPr/>
          <p:nvPr/>
        </p:nvSpPr>
        <p:spPr>
          <a:xfrm>
            <a:off x="6199632" y="2103120"/>
            <a:ext cx="2615184" cy="2011680"/>
          </a:xfrm>
          <a:prstGeom prst="roundRect">
            <a:avLst>
              <a:gd name="adj" fmla="val 3636"/>
            </a:avLst>
          </a:prstGeom>
          <a:solidFill>
            <a:schemeClr val="bg2"/>
          </a:solidFill>
          <a:ln w="12700">
            <a:solidFill>
              <a:schemeClr val="bg2"/>
            </a:solidFill>
            <a:prstDash val="solid"/>
          </a:ln>
        </p:spPr>
      </p:sp>
      <p:sp>
        <p:nvSpPr>
          <p:cNvPr id="14" name="Docs &amp; Files circle"/>
          <p:cNvSpPr/>
          <p:nvPr/>
        </p:nvSpPr>
        <p:spPr>
          <a:xfrm>
            <a:off x="6428232" y="2331720"/>
            <a:ext cx="594360" cy="594360"/>
          </a:xfrm>
          <a:prstGeom prst="ellipse">
            <a:avLst/>
          </a:prstGeom>
          <a:solidFill>
            <a:schemeClr val="accent1"/>
          </a:solidFill>
          <a:ln w="12700">
            <a:solidFill>
              <a:schemeClr val="accent1"/>
            </a:solidFill>
            <a:prstDash val="solid"/>
          </a:ln>
        </p:spPr>
      </p:sp>
      <p:pic>
        <p:nvPicPr>
          <p:cNvPr id="15" name="Docs &amp; Files icon" descr="Docs &amp; Files">    </p:cNvPr>
          <p:cNvPicPr>
            <a:picLocks noChangeAspect="1"/>
          </p:cNvPicPr>
          <p:nvPr/>
        </p:nvPicPr>
        <p:blipFill>
          <a:blip r:embed="rId3"/>
          <a:stretch>
            <a:fillRect/>
          </a:stretch>
        </p:blipFill>
        <p:spPr>
          <a:xfrm>
            <a:off x="6582766" y="2486254"/>
            <a:ext cx="285293" cy="285293"/>
          </a:xfrm>
          <a:prstGeom prst="rect">
            <a:avLst/>
          </a:prstGeom>
        </p:spPr>
      </p:pic>
      <p:sp>
        <p:nvSpPr>
          <p:cNvPr id="16" name="Text 11"/>
          <p:cNvSpPr txBox="1"/>
          <p:nvPr/>
        </p:nvSpPr>
        <p:spPr>
          <a:xfrm>
            <a:off x="6428232" y="3017520"/>
            <a:ext cx="2157984" cy="365760"/>
          </a:xfrm>
          <a:prstGeom prst="rect">
            <a:avLst/>
          </a:prstGeom>
          <a:noFill/>
          <a:ln/>
        </p:spPr>
        <p:txBody>
          <a:bodyPr wrap="square" lIns="0" tIns="0" rIns="0" bIns="0" rtlCol="0" anchor="ctr"/>
          <a:lstStyle/>
          <a:p>
            <a:pPr indent="0" marL="0">
              <a:buNone/>
            </a:pPr>
            <a:r>
              <a:rPr lang="en-US" sz="1600" b="1" dirty="0">
                <a:solidFill>
                  <a:schemeClr val="tx2"/>
                </a:solidFill>
              </a:rPr>
              <a:t>Docs &amp; Files</a:t>
            </a:r>
            <a:endParaRPr lang="en-US" sz="1600" dirty="0"/>
          </a:p>
        </p:txBody>
      </p:sp>
      <p:sp>
        <p:nvSpPr>
          <p:cNvPr id="17" name="Text 12"/>
          <p:cNvSpPr txBox="1"/>
          <p:nvPr/>
        </p:nvSpPr>
        <p:spPr>
          <a:xfrm>
            <a:off x="6428232" y="3383280"/>
            <a:ext cx="2157984" cy="640080"/>
          </a:xfrm>
          <a:prstGeom prst="rect">
            <a:avLst/>
          </a:prstGeom>
          <a:noFill/>
          <a:ln/>
        </p:spPr>
        <p:txBody>
          <a:bodyPr wrap="square" lIns="0" tIns="0" rIns="0" bIns="0" rtlCol="0" anchor="t"/>
          <a:lstStyle/>
          <a:p>
            <a:pPr indent="0" marL="0">
              <a:buNone/>
            </a:pPr>
            <a:r>
              <a:rPr lang="en-US" sz="1300" dirty="0">
                <a:solidFill>
                  <a:schemeClr val="tx1"/>
                </a:solidFill>
              </a:rPr>
              <a:t>Central storage for documents, reports and media</a:t>
            </a:r>
            <a:endParaRPr lang="en-US" sz="1300" dirty="0"/>
          </a:p>
        </p:txBody>
      </p:sp>
      <p:sp>
        <p:nvSpPr>
          <p:cNvPr id="18" name="Card Table card"/>
          <p:cNvSpPr/>
          <p:nvPr/>
        </p:nvSpPr>
        <p:spPr>
          <a:xfrm>
            <a:off x="9025128" y="2103120"/>
            <a:ext cx="2615184" cy="2011680"/>
          </a:xfrm>
          <a:prstGeom prst="roundRect">
            <a:avLst>
              <a:gd name="adj" fmla="val 3636"/>
            </a:avLst>
          </a:prstGeom>
          <a:solidFill>
            <a:schemeClr val="bg2"/>
          </a:solidFill>
          <a:ln w="12700">
            <a:solidFill>
              <a:schemeClr val="bg2"/>
            </a:solidFill>
            <a:prstDash val="solid"/>
          </a:ln>
        </p:spPr>
      </p:sp>
      <p:sp>
        <p:nvSpPr>
          <p:cNvPr id="19" name="Card Table circle"/>
          <p:cNvSpPr/>
          <p:nvPr/>
        </p:nvSpPr>
        <p:spPr>
          <a:xfrm>
            <a:off x="9253728" y="2331720"/>
            <a:ext cx="594360" cy="594360"/>
          </a:xfrm>
          <a:prstGeom prst="ellipse">
            <a:avLst/>
          </a:prstGeom>
          <a:solidFill>
            <a:schemeClr val="accent2"/>
          </a:solidFill>
          <a:ln w="12700">
            <a:solidFill>
              <a:schemeClr val="accent2"/>
            </a:solidFill>
            <a:prstDash val="solid"/>
          </a:ln>
        </p:spPr>
      </p:sp>
      <p:pic>
        <p:nvPicPr>
          <p:cNvPr id="20" name="Card Table icon" descr="Card Table">    </p:cNvPr>
          <p:cNvPicPr>
            <a:picLocks noChangeAspect="1"/>
          </p:cNvPicPr>
          <p:nvPr/>
        </p:nvPicPr>
        <p:blipFill>
          <a:blip r:embed="rId4"/>
          <a:stretch>
            <a:fillRect/>
          </a:stretch>
        </p:blipFill>
        <p:spPr>
          <a:xfrm>
            <a:off x="9408262" y="2486254"/>
            <a:ext cx="285293" cy="285293"/>
          </a:xfrm>
          <a:prstGeom prst="rect">
            <a:avLst/>
          </a:prstGeom>
        </p:spPr>
      </p:pic>
      <p:sp>
        <p:nvSpPr>
          <p:cNvPr id="21" name="Text 15"/>
          <p:cNvSpPr txBox="1"/>
          <p:nvPr/>
        </p:nvSpPr>
        <p:spPr>
          <a:xfrm>
            <a:off x="9253728" y="3017520"/>
            <a:ext cx="2157984" cy="365760"/>
          </a:xfrm>
          <a:prstGeom prst="rect">
            <a:avLst/>
          </a:prstGeom>
          <a:noFill/>
          <a:ln/>
        </p:spPr>
        <p:txBody>
          <a:bodyPr wrap="square" lIns="0" tIns="0" rIns="0" bIns="0" rtlCol="0" anchor="ctr"/>
          <a:lstStyle/>
          <a:p>
            <a:pPr indent="0" marL="0">
              <a:buNone/>
            </a:pPr>
            <a:r>
              <a:rPr lang="en-US" sz="1600" b="1" dirty="0">
                <a:solidFill>
                  <a:schemeClr val="tx2"/>
                </a:solidFill>
              </a:rPr>
              <a:t>Card Table</a:t>
            </a:r>
            <a:endParaRPr lang="en-US" sz="1600" dirty="0"/>
          </a:p>
        </p:txBody>
      </p:sp>
      <p:sp>
        <p:nvSpPr>
          <p:cNvPr id="22" name="Text 16"/>
          <p:cNvSpPr txBox="1"/>
          <p:nvPr/>
        </p:nvSpPr>
        <p:spPr>
          <a:xfrm>
            <a:off x="9253728" y="3383280"/>
            <a:ext cx="2157984" cy="640080"/>
          </a:xfrm>
          <a:prstGeom prst="rect">
            <a:avLst/>
          </a:prstGeom>
          <a:noFill/>
          <a:ln/>
        </p:spPr>
        <p:txBody>
          <a:bodyPr wrap="square" lIns="0" tIns="0" rIns="0" bIns="0" rtlCol="0" anchor="t"/>
          <a:lstStyle/>
          <a:p>
            <a:pPr indent="0" marL="0">
              <a:buNone/>
            </a:pPr>
            <a:r>
              <a:rPr lang="en-US" sz="1300" dirty="0">
                <a:solidFill>
                  <a:schemeClr val="tx1"/>
                </a:solidFill>
              </a:rPr>
              <a:t>Kanban board to move work from triage to done</a:t>
            </a:r>
            <a:endParaRPr lang="en-US" sz="1300" dirty="0"/>
          </a:p>
        </p:txBody>
      </p:sp>
      <p:sp>
        <p:nvSpPr>
          <p:cNvPr id="23" name="Automatic Check-ins card"/>
          <p:cNvSpPr/>
          <p:nvPr/>
        </p:nvSpPr>
        <p:spPr>
          <a:xfrm>
            <a:off x="548640" y="4389120"/>
            <a:ext cx="2615184" cy="2011680"/>
          </a:xfrm>
          <a:prstGeom prst="roundRect">
            <a:avLst>
              <a:gd name="adj" fmla="val 3636"/>
            </a:avLst>
          </a:prstGeom>
          <a:solidFill>
            <a:schemeClr val="bg2"/>
          </a:solidFill>
          <a:ln w="12700">
            <a:solidFill>
              <a:schemeClr val="bg2"/>
            </a:solidFill>
            <a:prstDash val="solid"/>
          </a:ln>
        </p:spPr>
      </p:sp>
      <p:sp>
        <p:nvSpPr>
          <p:cNvPr id="24" name="Automatic Check-ins circle"/>
          <p:cNvSpPr/>
          <p:nvPr/>
        </p:nvSpPr>
        <p:spPr>
          <a:xfrm>
            <a:off x="777240" y="4617720"/>
            <a:ext cx="594360" cy="594360"/>
          </a:xfrm>
          <a:prstGeom prst="ellipse">
            <a:avLst/>
          </a:prstGeom>
          <a:solidFill>
            <a:schemeClr val="accent1"/>
          </a:solidFill>
          <a:ln w="12700">
            <a:solidFill>
              <a:schemeClr val="accent1"/>
            </a:solidFill>
            <a:prstDash val="solid"/>
          </a:ln>
        </p:spPr>
      </p:sp>
      <p:pic>
        <p:nvPicPr>
          <p:cNvPr id="25" name="Automatic Check-ins icon" descr="Automatic Check-ins">    </p:cNvPr>
          <p:cNvPicPr>
            <a:picLocks noChangeAspect="1"/>
          </p:cNvPicPr>
          <p:nvPr/>
        </p:nvPicPr>
        <p:blipFill>
          <a:blip r:embed="rId5"/>
          <a:stretch>
            <a:fillRect/>
          </a:stretch>
        </p:blipFill>
        <p:spPr>
          <a:xfrm>
            <a:off x="931774" y="4772254"/>
            <a:ext cx="285293" cy="285293"/>
          </a:xfrm>
          <a:prstGeom prst="rect">
            <a:avLst/>
          </a:prstGeom>
        </p:spPr>
      </p:pic>
      <p:sp>
        <p:nvSpPr>
          <p:cNvPr id="26" name="Text 19"/>
          <p:cNvSpPr txBox="1"/>
          <p:nvPr/>
        </p:nvSpPr>
        <p:spPr>
          <a:xfrm>
            <a:off x="777240" y="5303520"/>
            <a:ext cx="2157984" cy="365760"/>
          </a:xfrm>
          <a:prstGeom prst="rect">
            <a:avLst/>
          </a:prstGeom>
          <a:noFill/>
          <a:ln/>
        </p:spPr>
        <p:txBody>
          <a:bodyPr wrap="square" lIns="0" tIns="0" rIns="0" bIns="0" rtlCol="0" anchor="ctr"/>
          <a:lstStyle/>
          <a:p>
            <a:pPr indent="0" marL="0">
              <a:buNone/>
            </a:pPr>
            <a:r>
              <a:rPr lang="en-US" sz="1600" b="1" dirty="0">
                <a:solidFill>
                  <a:schemeClr val="tx2"/>
                </a:solidFill>
              </a:rPr>
              <a:t>Automatic Check-ins</a:t>
            </a:r>
            <a:endParaRPr lang="en-US" sz="1600" dirty="0"/>
          </a:p>
        </p:txBody>
      </p:sp>
      <p:sp>
        <p:nvSpPr>
          <p:cNvPr id="27" name="Text 20"/>
          <p:cNvSpPr txBox="1"/>
          <p:nvPr/>
        </p:nvSpPr>
        <p:spPr>
          <a:xfrm>
            <a:off x="777240" y="5669280"/>
            <a:ext cx="2157984" cy="640080"/>
          </a:xfrm>
          <a:prstGeom prst="rect">
            <a:avLst/>
          </a:prstGeom>
          <a:noFill/>
          <a:ln/>
        </p:spPr>
        <p:txBody>
          <a:bodyPr wrap="square" lIns="0" tIns="0" rIns="0" bIns="0" rtlCol="0" anchor="t"/>
          <a:lstStyle/>
          <a:p>
            <a:pPr indent="0" marL="0">
              <a:buNone/>
            </a:pPr>
            <a:r>
              <a:rPr lang="en-US" sz="1300" dirty="0">
                <a:solidFill>
                  <a:schemeClr val="tx1"/>
                </a:solidFill>
              </a:rPr>
              <a:t>Recurring questions that collect progress updates</a:t>
            </a:r>
            <a:endParaRPr lang="en-US" sz="1300" dirty="0"/>
          </a:p>
        </p:txBody>
      </p:sp>
      <p:sp>
        <p:nvSpPr>
          <p:cNvPr id="28" name="Calendar card"/>
          <p:cNvSpPr/>
          <p:nvPr/>
        </p:nvSpPr>
        <p:spPr>
          <a:xfrm>
            <a:off x="3374136" y="4389120"/>
            <a:ext cx="2615184" cy="2011680"/>
          </a:xfrm>
          <a:prstGeom prst="roundRect">
            <a:avLst>
              <a:gd name="adj" fmla="val 3636"/>
            </a:avLst>
          </a:prstGeom>
          <a:solidFill>
            <a:schemeClr val="bg2"/>
          </a:solidFill>
          <a:ln w="12700">
            <a:solidFill>
              <a:schemeClr val="bg2"/>
            </a:solidFill>
            <a:prstDash val="solid"/>
          </a:ln>
        </p:spPr>
      </p:sp>
      <p:sp>
        <p:nvSpPr>
          <p:cNvPr id="29" name="Calendar circle"/>
          <p:cNvSpPr/>
          <p:nvPr/>
        </p:nvSpPr>
        <p:spPr>
          <a:xfrm>
            <a:off x="3602736" y="4617720"/>
            <a:ext cx="594360" cy="594360"/>
          </a:xfrm>
          <a:prstGeom prst="ellipse">
            <a:avLst/>
          </a:prstGeom>
          <a:solidFill>
            <a:schemeClr val="accent2"/>
          </a:solidFill>
          <a:ln w="12700">
            <a:solidFill>
              <a:schemeClr val="accent2"/>
            </a:solidFill>
            <a:prstDash val="solid"/>
          </a:ln>
        </p:spPr>
      </p:sp>
      <p:pic>
        <p:nvPicPr>
          <p:cNvPr id="30" name="Calendar icon" descr="Calendar">    </p:cNvPr>
          <p:cNvPicPr>
            <a:picLocks noChangeAspect="1"/>
          </p:cNvPicPr>
          <p:nvPr/>
        </p:nvPicPr>
        <p:blipFill>
          <a:blip r:embed="rId6"/>
          <a:stretch>
            <a:fillRect/>
          </a:stretch>
        </p:blipFill>
        <p:spPr>
          <a:xfrm>
            <a:off x="3757270" y="4772254"/>
            <a:ext cx="285293" cy="285293"/>
          </a:xfrm>
          <a:prstGeom prst="rect">
            <a:avLst/>
          </a:prstGeom>
        </p:spPr>
      </p:pic>
      <p:sp>
        <p:nvSpPr>
          <p:cNvPr id="31" name="Text 23"/>
          <p:cNvSpPr txBox="1"/>
          <p:nvPr/>
        </p:nvSpPr>
        <p:spPr>
          <a:xfrm>
            <a:off x="3602736" y="5303520"/>
            <a:ext cx="2157984" cy="365760"/>
          </a:xfrm>
          <a:prstGeom prst="rect">
            <a:avLst/>
          </a:prstGeom>
          <a:noFill/>
          <a:ln/>
        </p:spPr>
        <p:txBody>
          <a:bodyPr wrap="square" lIns="0" tIns="0" rIns="0" bIns="0" rtlCol="0" anchor="ctr"/>
          <a:lstStyle/>
          <a:p>
            <a:pPr indent="0" marL="0">
              <a:buNone/>
            </a:pPr>
            <a:r>
              <a:rPr lang="en-US" sz="1600" b="1" dirty="0">
                <a:solidFill>
                  <a:schemeClr val="tx2"/>
                </a:solidFill>
              </a:rPr>
              <a:t>Calendar</a:t>
            </a:r>
            <a:endParaRPr lang="en-US" sz="1600" dirty="0"/>
          </a:p>
        </p:txBody>
      </p:sp>
      <p:sp>
        <p:nvSpPr>
          <p:cNvPr id="32" name="Text 24"/>
          <p:cNvSpPr txBox="1"/>
          <p:nvPr/>
        </p:nvSpPr>
        <p:spPr>
          <a:xfrm>
            <a:off x="3602736" y="5669280"/>
            <a:ext cx="2157984" cy="640080"/>
          </a:xfrm>
          <a:prstGeom prst="rect">
            <a:avLst/>
          </a:prstGeom>
          <a:noFill/>
          <a:ln/>
        </p:spPr>
        <p:txBody>
          <a:bodyPr wrap="square" lIns="0" tIns="0" rIns="0" bIns="0" rtlCol="0" anchor="t"/>
          <a:lstStyle/>
          <a:p>
            <a:pPr indent="0" marL="0">
              <a:buNone/>
            </a:pPr>
            <a:r>
              <a:rPr lang="en-US" sz="1300" dirty="0">
                <a:solidFill>
                  <a:schemeClr val="tx1"/>
                </a:solidFill>
              </a:rPr>
              <a:t>Shared schedule of deadlines and milestones</a:t>
            </a:r>
            <a:endParaRPr lang="en-US" sz="1300" dirty="0"/>
          </a:p>
        </p:txBody>
      </p:sp>
      <p:sp>
        <p:nvSpPr>
          <p:cNvPr id="33" name="Email Forwards card"/>
          <p:cNvSpPr/>
          <p:nvPr/>
        </p:nvSpPr>
        <p:spPr>
          <a:xfrm>
            <a:off x="6199632" y="4389120"/>
            <a:ext cx="2615184" cy="2011680"/>
          </a:xfrm>
          <a:prstGeom prst="roundRect">
            <a:avLst>
              <a:gd name="adj" fmla="val 3636"/>
            </a:avLst>
          </a:prstGeom>
          <a:solidFill>
            <a:schemeClr val="bg2"/>
          </a:solidFill>
          <a:ln w="12700">
            <a:solidFill>
              <a:schemeClr val="bg2"/>
            </a:solidFill>
            <a:prstDash val="solid"/>
          </a:ln>
        </p:spPr>
      </p:sp>
      <p:sp>
        <p:nvSpPr>
          <p:cNvPr id="34" name="Email Forwards circle"/>
          <p:cNvSpPr/>
          <p:nvPr/>
        </p:nvSpPr>
        <p:spPr>
          <a:xfrm>
            <a:off x="6428232" y="4617720"/>
            <a:ext cx="594360" cy="594360"/>
          </a:xfrm>
          <a:prstGeom prst="ellipse">
            <a:avLst/>
          </a:prstGeom>
          <a:solidFill>
            <a:schemeClr val="accent1"/>
          </a:solidFill>
          <a:ln w="12700">
            <a:solidFill>
              <a:schemeClr val="accent1"/>
            </a:solidFill>
            <a:prstDash val="solid"/>
          </a:ln>
        </p:spPr>
      </p:sp>
      <p:pic>
        <p:nvPicPr>
          <p:cNvPr id="35" name="Email Forwards icon" descr="Email Forwards">    </p:cNvPr>
          <p:cNvPicPr>
            <a:picLocks noChangeAspect="1"/>
          </p:cNvPicPr>
          <p:nvPr/>
        </p:nvPicPr>
        <p:blipFill>
          <a:blip r:embed="rId7"/>
          <a:stretch>
            <a:fillRect/>
          </a:stretch>
        </p:blipFill>
        <p:spPr>
          <a:xfrm>
            <a:off x="6582766" y="4772254"/>
            <a:ext cx="285293" cy="285293"/>
          </a:xfrm>
          <a:prstGeom prst="rect">
            <a:avLst/>
          </a:prstGeom>
        </p:spPr>
      </p:pic>
      <p:sp>
        <p:nvSpPr>
          <p:cNvPr id="36" name="Text 27"/>
          <p:cNvSpPr txBox="1"/>
          <p:nvPr/>
        </p:nvSpPr>
        <p:spPr>
          <a:xfrm>
            <a:off x="6428232" y="5303520"/>
            <a:ext cx="2157984" cy="365760"/>
          </a:xfrm>
          <a:prstGeom prst="rect">
            <a:avLst/>
          </a:prstGeom>
          <a:noFill/>
          <a:ln/>
        </p:spPr>
        <p:txBody>
          <a:bodyPr wrap="square" lIns="0" tIns="0" rIns="0" bIns="0" rtlCol="0" anchor="ctr"/>
          <a:lstStyle/>
          <a:p>
            <a:pPr indent="0" marL="0">
              <a:buNone/>
            </a:pPr>
            <a:r>
              <a:rPr lang="en-US" sz="1600" b="1" dirty="0">
                <a:solidFill>
                  <a:schemeClr val="tx2"/>
                </a:solidFill>
              </a:rPr>
              <a:t>Email Forwards</a:t>
            </a:r>
            <a:endParaRPr lang="en-US" sz="1600" dirty="0"/>
          </a:p>
        </p:txBody>
      </p:sp>
      <p:sp>
        <p:nvSpPr>
          <p:cNvPr id="37" name="Text 28"/>
          <p:cNvSpPr txBox="1"/>
          <p:nvPr/>
        </p:nvSpPr>
        <p:spPr>
          <a:xfrm>
            <a:off x="6428232" y="5669280"/>
            <a:ext cx="2157984" cy="640080"/>
          </a:xfrm>
          <a:prstGeom prst="rect">
            <a:avLst/>
          </a:prstGeom>
          <a:noFill/>
          <a:ln/>
        </p:spPr>
        <p:txBody>
          <a:bodyPr wrap="square" lIns="0" tIns="0" rIns="0" bIns="0" rtlCol="0" anchor="t"/>
          <a:lstStyle/>
          <a:p>
            <a:pPr indent="0" marL="0">
              <a:buNone/>
            </a:pPr>
            <a:r>
              <a:rPr lang="en-US" sz="1300" dirty="0">
                <a:solidFill>
                  <a:schemeClr val="tx1"/>
                </a:solidFill>
              </a:rPr>
              <a:t>Forward outside emails straight into the project</a:t>
            </a:r>
            <a:endParaRPr lang="en-US" sz="1300" dirty="0"/>
          </a:p>
        </p:txBody>
      </p:sp>
      <p:sp>
        <p:nvSpPr>
          <p:cNvPr id="38" name="Chat card"/>
          <p:cNvSpPr/>
          <p:nvPr/>
        </p:nvSpPr>
        <p:spPr>
          <a:xfrm>
            <a:off x="9025128" y="4389120"/>
            <a:ext cx="2615184" cy="2011680"/>
          </a:xfrm>
          <a:prstGeom prst="roundRect">
            <a:avLst>
              <a:gd name="adj" fmla="val 3636"/>
            </a:avLst>
          </a:prstGeom>
          <a:solidFill>
            <a:schemeClr val="bg2"/>
          </a:solidFill>
          <a:ln w="12700">
            <a:solidFill>
              <a:schemeClr val="bg2"/>
            </a:solidFill>
            <a:prstDash val="solid"/>
          </a:ln>
        </p:spPr>
      </p:sp>
      <p:sp>
        <p:nvSpPr>
          <p:cNvPr id="39" name="Chat circle"/>
          <p:cNvSpPr/>
          <p:nvPr/>
        </p:nvSpPr>
        <p:spPr>
          <a:xfrm>
            <a:off x="9253728" y="4617720"/>
            <a:ext cx="594360" cy="594360"/>
          </a:xfrm>
          <a:prstGeom prst="ellipse">
            <a:avLst/>
          </a:prstGeom>
          <a:solidFill>
            <a:schemeClr val="accent2"/>
          </a:solidFill>
          <a:ln w="12700">
            <a:solidFill>
              <a:schemeClr val="accent2"/>
            </a:solidFill>
            <a:prstDash val="solid"/>
          </a:ln>
        </p:spPr>
      </p:sp>
      <p:pic>
        <p:nvPicPr>
          <p:cNvPr id="40" name="Chat icon" descr="Chat">    </p:cNvPr>
          <p:cNvPicPr>
            <a:picLocks noChangeAspect="1"/>
          </p:cNvPicPr>
          <p:nvPr/>
        </p:nvPicPr>
        <p:blipFill>
          <a:blip r:embed="rId8"/>
          <a:stretch>
            <a:fillRect/>
          </a:stretch>
        </p:blipFill>
        <p:spPr>
          <a:xfrm>
            <a:off x="9408262" y="4772254"/>
            <a:ext cx="285293" cy="285293"/>
          </a:xfrm>
          <a:prstGeom prst="rect">
            <a:avLst/>
          </a:prstGeom>
        </p:spPr>
      </p:pic>
      <p:sp>
        <p:nvSpPr>
          <p:cNvPr id="41" name="Text 31"/>
          <p:cNvSpPr txBox="1"/>
          <p:nvPr/>
        </p:nvSpPr>
        <p:spPr>
          <a:xfrm>
            <a:off x="9253728" y="5303520"/>
            <a:ext cx="2157984" cy="365760"/>
          </a:xfrm>
          <a:prstGeom prst="rect">
            <a:avLst/>
          </a:prstGeom>
          <a:noFill/>
          <a:ln/>
        </p:spPr>
        <p:txBody>
          <a:bodyPr wrap="square" lIns="0" tIns="0" rIns="0" bIns="0" rtlCol="0" anchor="ctr"/>
          <a:lstStyle/>
          <a:p>
            <a:pPr indent="0" marL="0">
              <a:buNone/>
            </a:pPr>
            <a:r>
              <a:rPr lang="en-US" sz="1600" b="1" dirty="0">
                <a:solidFill>
                  <a:schemeClr val="tx2"/>
                </a:solidFill>
              </a:rPr>
              <a:t>Chat</a:t>
            </a:r>
            <a:endParaRPr lang="en-US" sz="1600" dirty="0"/>
          </a:p>
        </p:txBody>
      </p:sp>
      <p:sp>
        <p:nvSpPr>
          <p:cNvPr id="42" name="Text 32"/>
          <p:cNvSpPr txBox="1"/>
          <p:nvPr/>
        </p:nvSpPr>
        <p:spPr>
          <a:xfrm>
            <a:off x="9253728" y="5669280"/>
            <a:ext cx="2157984" cy="640080"/>
          </a:xfrm>
          <a:prstGeom prst="rect">
            <a:avLst/>
          </a:prstGeom>
          <a:noFill/>
          <a:ln/>
        </p:spPr>
        <p:txBody>
          <a:bodyPr wrap="square" lIns="0" tIns="0" rIns="0" bIns="0" rtlCol="0" anchor="t"/>
          <a:lstStyle/>
          <a:p>
            <a:pPr indent="0" marL="0">
              <a:buNone/>
            </a:pPr>
            <a:r>
              <a:rPr lang="en-US" sz="1300" dirty="0">
                <a:solidFill>
                  <a:schemeClr val="tx1"/>
                </a:solidFill>
              </a:rPr>
              <a:t>Real-time group chat for quick conversations</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48640" y="1207008"/>
            <a:ext cx="11091672"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Our demo: Capstone Project Management System</a:t>
            </a:r>
            <a:endParaRPr lang="en-US" sz="3000" dirty="0"/>
          </a:p>
        </p:txBody>
      </p:sp>
      <p:sp>
        <p:nvSpPr>
          <p:cNvPr id="3" name="Text 1"/>
          <p:cNvSpPr txBox="1"/>
          <p:nvPr/>
        </p:nvSpPr>
        <p:spPr>
          <a:xfrm>
            <a:off x="548640" y="2103120"/>
            <a:ext cx="5669280" cy="3291840"/>
          </a:xfrm>
          <a:prstGeom prst="rect">
            <a:avLst/>
          </a:prstGeom>
          <a:noFill/>
          <a:ln/>
        </p:spPr>
        <p:txBody>
          <a:bodyPr wrap="square" lIns="0" tIns="0" rIns="0" bIns="0" rtlCol="0" anchor="t"/>
          <a:lstStyle/>
          <a:p>
            <a:pPr indent="0" marL="0">
              <a:spcAft>
                <a:spcPts val="800"/>
              </a:spcAft>
              <a:buNone/>
            </a:pPr>
            <a:r>
              <a:rPr lang="en-US" sz="1800" b="1" dirty="0">
                <a:solidFill>
                  <a:schemeClr val="accent1"/>
                </a:solidFill>
              </a:rPr>
              <a:t>The scenario</a:t>
            </a:r>
            <a:endParaRPr lang="en-US" sz="1800" dirty="0"/>
          </a:p>
          <a:p>
            <a:pPr indent="0" marL="0">
              <a:spcAft>
                <a:spcPts val="800"/>
              </a:spcAft>
              <a:buNone/>
            </a:pPr>
            <a:r>
              <a:rPr lang="en-US" sz="1500" dirty="0">
                <a:solidFill>
                  <a:schemeClr val="tx1"/>
                </a:solidFill>
              </a:rPr>
              <a:t>We created a Basecamp project to run a capstone project from start to submission. The work involved:</a:t>
            </a:r>
            <a:endParaRPr lang="en-US" sz="1800" dirty="0"/>
          </a:p>
          <a:p>
            <a:pPr marL="342900" indent="-342900">
              <a:spcAft>
                <a:spcPts val="800"/>
              </a:spcAft>
              <a:buSzPct val="100000"/>
              <a:buChar char="•"/>
            </a:pPr>
            <a:r>
              <a:rPr lang="en-US" sz="1500" dirty="0">
                <a:solidFill>
                  <a:schemeClr val="tx1"/>
                </a:solidFill>
              </a:rPr>
              <a:t>Collecting datasets from GovInd</a:t>
            </a:r>
            <a:endParaRPr lang="en-US" sz="1800" dirty="0"/>
          </a:p>
          <a:p>
            <a:pPr marL="342900" indent="-342900">
              <a:spcAft>
                <a:spcPts val="800"/>
              </a:spcAft>
              <a:buSzPct val="100000"/>
              <a:buChar char="•"/>
            </a:pPr>
            <a:r>
              <a:rPr lang="en-US" sz="1500" dirty="0">
                <a:solidFill>
                  <a:schemeClr val="tx1"/>
                </a:solidFill>
              </a:rPr>
              <a:t>Feature engineering and training a model</a:t>
            </a:r>
            <a:endParaRPr lang="en-US" sz="1800" dirty="0"/>
          </a:p>
          <a:p>
            <a:pPr marL="342900" indent="-342900">
              <a:spcAft>
                <a:spcPts val="800"/>
              </a:spcAft>
              <a:buSzPct val="100000"/>
              <a:buChar char="•"/>
            </a:pPr>
            <a:r>
              <a:rPr lang="en-US" sz="1500" dirty="0">
                <a:solidFill>
                  <a:schemeClr val="tx1"/>
                </a:solidFill>
              </a:rPr>
              <a:t>Building and deploying a frontend dashboard</a:t>
            </a:r>
            <a:endParaRPr lang="en-US" sz="1800" dirty="0"/>
          </a:p>
          <a:p>
            <a:pPr marL="342900" indent="-342900">
              <a:spcAft>
                <a:spcPts val="800"/>
              </a:spcAft>
              <a:buSzPct val="100000"/>
              <a:buChar char="•"/>
            </a:pPr>
            <a:r>
              <a:rPr lang="en-US" sz="1500" dirty="0">
                <a:solidFill>
                  <a:schemeClr val="tx1"/>
                </a:solidFill>
              </a:rPr>
              <a:t>Submitting code files and the final report</a:t>
            </a:r>
            <a:endParaRPr lang="en-US" sz="1800" dirty="0"/>
          </a:p>
        </p:txBody>
      </p:sp>
      <p:sp>
        <p:nvSpPr>
          <p:cNvPr id="4" name="Text 2"/>
          <p:cNvSpPr txBox="1"/>
          <p:nvPr/>
        </p:nvSpPr>
        <p:spPr>
          <a:xfrm>
            <a:off x="6675120" y="2103120"/>
            <a:ext cx="4937760" cy="365760"/>
          </a:xfrm>
          <a:prstGeom prst="rect">
            <a:avLst/>
          </a:prstGeom>
          <a:noFill/>
          <a:ln/>
        </p:spPr>
        <p:txBody>
          <a:bodyPr wrap="square" lIns="0" tIns="0" rIns="0" bIns="0" rtlCol="0" anchor="ctr"/>
          <a:lstStyle/>
          <a:p>
            <a:pPr indent="0" marL="0">
              <a:buNone/>
            </a:pPr>
            <a:r>
              <a:rPr lang="en-US" sz="1800" b="1" dirty="0">
                <a:solidFill>
                  <a:schemeClr val="accent1"/>
                </a:solidFill>
              </a:rPr>
              <a:t>Team members in the project</a:t>
            </a:r>
            <a:endParaRPr lang="en-US" sz="1800" dirty="0"/>
          </a:p>
        </p:txBody>
      </p:sp>
      <p:sp>
        <p:nvSpPr>
          <p:cNvPr id="5" name="Vedika Shetty card"/>
          <p:cNvSpPr/>
          <p:nvPr/>
        </p:nvSpPr>
        <p:spPr>
          <a:xfrm>
            <a:off x="6675120" y="2606040"/>
            <a:ext cx="4965192" cy="914400"/>
          </a:xfrm>
          <a:prstGeom prst="roundRect">
            <a:avLst>
              <a:gd name="adj" fmla="val 8000"/>
            </a:avLst>
          </a:prstGeom>
          <a:solidFill>
            <a:schemeClr val="bg2"/>
          </a:solidFill>
          <a:ln w="12700">
            <a:solidFill>
              <a:schemeClr val="bg2"/>
            </a:solidFill>
            <a:prstDash val="solid"/>
          </a:ln>
        </p:spPr>
      </p:sp>
      <p:sp>
        <p:nvSpPr>
          <p:cNvPr id="6" name="Vedika Shetty avatar"/>
          <p:cNvSpPr/>
          <p:nvPr/>
        </p:nvSpPr>
        <p:spPr>
          <a:xfrm>
            <a:off x="6858000" y="2788920"/>
            <a:ext cx="548640" cy="548640"/>
          </a:xfrm>
          <a:prstGeom prst="ellipse">
            <a:avLst/>
          </a:prstGeom>
          <a:solidFill>
            <a:srgbClr val="C026D3"/>
          </a:solidFill>
          <a:ln w="12700">
            <a:solidFill>
              <a:srgbClr val="C026D3"/>
            </a:solidFill>
            <a:prstDash val="solid"/>
          </a:ln>
        </p:spPr>
      </p:sp>
      <p:sp>
        <p:nvSpPr>
          <p:cNvPr id="7" name="Text 5"/>
          <p:cNvSpPr txBox="1"/>
          <p:nvPr/>
        </p:nvSpPr>
        <p:spPr>
          <a:xfrm>
            <a:off x="6858000" y="278892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VS</a:t>
            </a:r>
            <a:endParaRPr lang="en-US" sz="1500" dirty="0"/>
          </a:p>
        </p:txBody>
      </p:sp>
      <p:sp>
        <p:nvSpPr>
          <p:cNvPr id="8" name="Text 6"/>
          <p:cNvSpPr txBox="1"/>
          <p:nvPr/>
        </p:nvSpPr>
        <p:spPr>
          <a:xfrm>
            <a:off x="7589520" y="2679192"/>
            <a:ext cx="3931920" cy="786384"/>
          </a:xfrm>
          <a:prstGeom prst="rect">
            <a:avLst/>
          </a:prstGeom>
          <a:noFill/>
          <a:ln/>
        </p:spPr>
        <p:txBody>
          <a:bodyPr wrap="square" lIns="0" tIns="0" rIns="0" bIns="0" rtlCol="0" anchor="ctr"/>
          <a:lstStyle/>
          <a:p>
            <a:pPr indent="0" marL="0">
              <a:buNone/>
            </a:pPr>
            <a:r>
              <a:rPr lang="en-US" sz="1500" b="1" dirty="0">
                <a:solidFill>
                  <a:schemeClr val="tx2"/>
                </a:solidFill>
              </a:rPr>
              <a:t>Vedika Shetty</a:t>
            </a:r>
            <a:endParaRPr lang="en-US" sz="1500" dirty="0"/>
          </a:p>
          <a:p>
            <a:pPr indent="0" marL="0">
              <a:buNone/>
            </a:pPr>
            <a:r>
              <a:rPr lang="en-US" sz="1300" dirty="0">
                <a:solidFill>
                  <a:schemeClr val="tx1"/>
                </a:solidFill>
              </a:rPr>
              <a:t>Created the project, posted the brief, set up to-dos, check-ins and files</a:t>
            </a:r>
            <a:endParaRPr lang="en-US" sz="1500" dirty="0"/>
          </a:p>
        </p:txBody>
      </p:sp>
      <p:sp>
        <p:nvSpPr>
          <p:cNvPr id="9" name="Jainam card"/>
          <p:cNvSpPr/>
          <p:nvPr/>
        </p:nvSpPr>
        <p:spPr>
          <a:xfrm>
            <a:off x="6675120" y="3703320"/>
            <a:ext cx="4965192" cy="914400"/>
          </a:xfrm>
          <a:prstGeom prst="roundRect">
            <a:avLst>
              <a:gd name="adj" fmla="val 8000"/>
            </a:avLst>
          </a:prstGeom>
          <a:solidFill>
            <a:schemeClr val="bg2"/>
          </a:solidFill>
          <a:ln w="12700">
            <a:solidFill>
              <a:schemeClr val="bg2"/>
            </a:solidFill>
            <a:prstDash val="solid"/>
          </a:ln>
        </p:spPr>
      </p:sp>
      <p:sp>
        <p:nvSpPr>
          <p:cNvPr id="10" name="Jainam avatar"/>
          <p:cNvSpPr/>
          <p:nvPr/>
        </p:nvSpPr>
        <p:spPr>
          <a:xfrm>
            <a:off x="6858000" y="3886200"/>
            <a:ext cx="548640" cy="548640"/>
          </a:xfrm>
          <a:prstGeom prst="ellipse">
            <a:avLst/>
          </a:prstGeom>
          <a:solidFill>
            <a:schemeClr val="accent6"/>
          </a:solidFill>
          <a:ln w="12700">
            <a:solidFill>
              <a:schemeClr val="accent6"/>
            </a:solidFill>
            <a:prstDash val="solid"/>
          </a:ln>
        </p:spPr>
      </p:sp>
      <p:sp>
        <p:nvSpPr>
          <p:cNvPr id="11" name="Text 9"/>
          <p:cNvSpPr txBox="1"/>
          <p:nvPr/>
        </p:nvSpPr>
        <p:spPr>
          <a:xfrm>
            <a:off x="6858000" y="388620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J</a:t>
            </a:r>
            <a:endParaRPr lang="en-US" sz="1500" dirty="0"/>
          </a:p>
        </p:txBody>
      </p:sp>
      <p:sp>
        <p:nvSpPr>
          <p:cNvPr id="12" name="Text 10"/>
          <p:cNvSpPr txBox="1"/>
          <p:nvPr/>
        </p:nvSpPr>
        <p:spPr>
          <a:xfrm>
            <a:off x="7589520" y="3776472"/>
            <a:ext cx="3931920" cy="786384"/>
          </a:xfrm>
          <a:prstGeom prst="rect">
            <a:avLst/>
          </a:prstGeom>
          <a:noFill/>
          <a:ln/>
        </p:spPr>
        <p:txBody>
          <a:bodyPr wrap="square" lIns="0" tIns="0" rIns="0" bIns="0" rtlCol="0" anchor="ctr"/>
          <a:lstStyle/>
          <a:p>
            <a:pPr indent="0" marL="0">
              <a:buNone/>
            </a:pPr>
            <a:r>
              <a:rPr lang="en-US" sz="1500" b="1" dirty="0">
                <a:solidFill>
                  <a:schemeClr val="tx2"/>
                </a:solidFill>
              </a:rPr>
              <a:t>Jainam</a:t>
            </a:r>
            <a:endParaRPr lang="en-US" sz="1500" dirty="0"/>
          </a:p>
          <a:p>
            <a:pPr indent="0" marL="0">
              <a:buNone/>
            </a:pPr>
            <a:r>
              <a:rPr lang="en-US" sz="1300" dirty="0">
                <a:solidFill>
                  <a:schemeClr val="tx1"/>
                </a:solidFill>
              </a:rPr>
              <a:t>Shared the code on GitHub and set up the Frontend Dashboard card</a:t>
            </a:r>
            <a:endParaRPr lang="en-US" sz="1500" dirty="0"/>
          </a:p>
        </p:txBody>
      </p:sp>
      <p:sp>
        <p:nvSpPr>
          <p:cNvPr id="13" name="Vansh P. card"/>
          <p:cNvSpPr/>
          <p:nvPr/>
        </p:nvSpPr>
        <p:spPr>
          <a:xfrm>
            <a:off x="6675120" y="4800600"/>
            <a:ext cx="4965192" cy="914400"/>
          </a:xfrm>
          <a:prstGeom prst="roundRect">
            <a:avLst>
              <a:gd name="adj" fmla="val 8000"/>
            </a:avLst>
          </a:prstGeom>
          <a:solidFill>
            <a:schemeClr val="bg2"/>
          </a:solidFill>
          <a:ln w="12700">
            <a:solidFill>
              <a:schemeClr val="bg2"/>
            </a:solidFill>
            <a:prstDash val="solid"/>
          </a:ln>
        </p:spPr>
      </p:sp>
      <p:sp>
        <p:nvSpPr>
          <p:cNvPr id="14" name="Vansh P. avatar"/>
          <p:cNvSpPr/>
          <p:nvPr/>
        </p:nvSpPr>
        <p:spPr>
          <a:xfrm>
            <a:off x="6858000" y="4983480"/>
            <a:ext cx="548640" cy="548640"/>
          </a:xfrm>
          <a:prstGeom prst="ellipse">
            <a:avLst/>
          </a:prstGeom>
          <a:solidFill>
            <a:schemeClr val="accent2"/>
          </a:solidFill>
          <a:ln w="12700">
            <a:solidFill>
              <a:schemeClr val="accent2"/>
            </a:solidFill>
            <a:prstDash val="solid"/>
          </a:ln>
        </p:spPr>
      </p:sp>
      <p:sp>
        <p:nvSpPr>
          <p:cNvPr id="15" name="Text 13"/>
          <p:cNvSpPr txBox="1"/>
          <p:nvPr/>
        </p:nvSpPr>
        <p:spPr>
          <a:xfrm>
            <a:off x="6858000" y="4983480"/>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VP</a:t>
            </a:r>
            <a:endParaRPr lang="en-US" sz="1500" dirty="0"/>
          </a:p>
        </p:txBody>
      </p:sp>
      <p:sp>
        <p:nvSpPr>
          <p:cNvPr id="16" name="Text 14"/>
          <p:cNvSpPr txBox="1"/>
          <p:nvPr/>
        </p:nvSpPr>
        <p:spPr>
          <a:xfrm>
            <a:off x="7589520" y="4873752"/>
            <a:ext cx="3931920" cy="786384"/>
          </a:xfrm>
          <a:prstGeom prst="rect">
            <a:avLst/>
          </a:prstGeom>
          <a:noFill/>
          <a:ln/>
        </p:spPr>
        <p:txBody>
          <a:bodyPr wrap="square" lIns="0" tIns="0" rIns="0" bIns="0" rtlCol="0" anchor="ctr"/>
          <a:lstStyle/>
          <a:p>
            <a:pPr indent="0" marL="0">
              <a:buNone/>
            </a:pPr>
            <a:r>
              <a:rPr lang="en-US" sz="1500" b="1" dirty="0">
                <a:solidFill>
                  <a:schemeClr val="tx2"/>
                </a:solidFill>
              </a:rPr>
              <a:t>Vansh P.</a:t>
            </a:r>
            <a:endParaRPr lang="en-US" sz="1500" dirty="0"/>
          </a:p>
          <a:p>
            <a:pPr indent="0" marL="0">
              <a:buNone/>
            </a:pPr>
            <a:r>
              <a:rPr lang="en-US" sz="1300" dirty="0">
                <a:solidFill>
                  <a:schemeClr val="tx1"/>
                </a:solidFill>
              </a:rPr>
              <a:t>Added to the project; receives check-ins and tasks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1207008"/>
            <a:ext cx="11091672"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Project home: Message Board, To-dos and Docs &amp; Files</a:t>
            </a:r>
            <a:endParaRPr lang="en-US" sz="3000" dirty="0"/>
          </a:p>
        </p:txBody>
      </p:sp>
      <p:sp>
        <p:nvSpPr>
          <p:cNvPr id="3" name="Screenshot frame"/>
          <p:cNvSpPr/>
          <p:nvPr/>
        </p:nvSpPr>
        <p:spPr>
          <a:xfrm>
            <a:off x="548640" y="2148840"/>
            <a:ext cx="7818120" cy="3672724"/>
          </a:xfrm>
          <a:prstGeom prst="rect">
            <a:avLst/>
          </a:prstGeom>
          <a:solidFill>
            <a:schemeClr val="accent2"/>
          </a:solidFill>
          <a:ln w="9525">
            <a:solidFill>
              <a:srgbClr val="D1D5DB"/>
            </a:solidFill>
            <a:prstDash val="solid"/>
          </a:ln>
          <a:effectLst>
            <a:outerShdw sx="100000" sy="100000" kx="0" ky="0" algn="bl" rotWithShape="0" blurRad="101600" dist="38100" dir="5400000">
              <a:srgbClr val="000000">
                <a:alpha val="25000"/>
              </a:srgbClr>
            </a:outerShdw>
          </a:effectLst>
        </p:spPr>
      </p:sp>
      <p:pic>
        <p:nvPicPr>
          <p:cNvPr id="4" name="Screenshot" descr="Basecamp project home screen showing Message Board, To-dos and Docs &amp; Files">    </p:cNvPr>
          <p:cNvPicPr>
            <a:picLocks noChangeAspect="1"/>
          </p:cNvPicPr>
          <p:nvPr/>
        </p:nvPicPr>
        <p:blipFill>
          <a:blip r:embed="rId1"/>
          <a:stretch>
            <a:fillRect/>
          </a:stretch>
        </p:blipFill>
        <p:spPr>
          <a:xfrm>
            <a:off x="548640" y="2148840"/>
            <a:ext cx="7818120" cy="3672724"/>
          </a:xfrm>
          <a:prstGeom prst="rect">
            <a:avLst/>
          </a:prstGeom>
        </p:spPr>
      </p:pic>
      <p:sp>
        <p:nvSpPr>
          <p:cNvPr id="5" name="Message Board"/>
          <p:cNvSpPr txBox="1"/>
          <p:nvPr/>
        </p:nvSpPr>
        <p:spPr>
          <a:xfrm>
            <a:off x="8732520" y="2148840"/>
            <a:ext cx="2907792" cy="960120"/>
          </a:xfrm>
          <a:prstGeom prst="rect">
            <a:avLst/>
          </a:prstGeom>
          <a:noFill/>
          <a:ln/>
        </p:spPr>
        <p:txBody>
          <a:bodyPr wrap="square" lIns="0" tIns="0" rIns="0" bIns="0" rtlCol="0" anchor="t"/>
          <a:lstStyle/>
          <a:p>
            <a:pPr indent="0" marL="0">
              <a:spcAft>
                <a:spcPts val="200"/>
              </a:spcAft>
              <a:buNone/>
            </a:pPr>
            <a:r>
              <a:rPr lang="en-US" sz="1500" b="1" dirty="0">
                <a:solidFill>
                  <a:schemeClr val="accent1"/>
                </a:solidFill>
              </a:rPr>
              <a:t>Message Board</a:t>
            </a:r>
            <a:endParaRPr lang="en-US" sz="1500" dirty="0"/>
          </a:p>
          <a:p>
            <a:pPr indent="0" marL="0">
              <a:spcAft>
                <a:spcPts val="200"/>
              </a:spcAft>
              <a:buNone/>
            </a:pPr>
            <a:r>
              <a:rPr lang="en-US" sz="1400" dirty="0">
                <a:solidFill>
                  <a:schemeClr val="tx1"/>
                </a:solidFill>
              </a:rPr>
              <a:t>A “Capstone Project Submission” post asks the team to submit all code files and the report by EOD.</a:t>
            </a:r>
            <a:endParaRPr lang="en-US" sz="1500" dirty="0"/>
          </a:p>
        </p:txBody>
      </p:sp>
      <p:sp>
        <p:nvSpPr>
          <p:cNvPr id="6" name="To-dos"/>
          <p:cNvSpPr txBox="1"/>
          <p:nvPr/>
        </p:nvSpPr>
        <p:spPr>
          <a:xfrm>
            <a:off x="8732520" y="3291840"/>
            <a:ext cx="2907792" cy="960120"/>
          </a:xfrm>
          <a:prstGeom prst="rect">
            <a:avLst/>
          </a:prstGeom>
          <a:noFill/>
          <a:ln/>
        </p:spPr>
        <p:txBody>
          <a:bodyPr wrap="square" lIns="0" tIns="0" rIns="0" bIns="0" rtlCol="0" anchor="t"/>
          <a:lstStyle/>
          <a:p>
            <a:pPr indent="0" marL="0">
              <a:spcAft>
                <a:spcPts val="200"/>
              </a:spcAft>
              <a:buNone/>
            </a:pPr>
            <a:r>
              <a:rPr lang="en-US" sz="1500" b="1" dirty="0">
                <a:solidFill>
                  <a:schemeClr val="accent1"/>
                </a:solidFill>
              </a:rPr>
              <a:t>To-dos</a:t>
            </a:r>
            <a:endParaRPr lang="en-US" sz="1500" dirty="0"/>
          </a:p>
          <a:p>
            <a:pPr indent="0" marL="0">
              <a:spcAft>
                <a:spcPts val="200"/>
              </a:spcAft>
              <a:buNone/>
            </a:pPr>
            <a:r>
              <a:rPr lang="en-US" sz="1400" dirty="0">
                <a:solidFill>
                  <a:schemeClr val="tx1"/>
                </a:solidFill>
              </a:rPr>
              <a:t>Three task lists: Risks &amp; Blockers, Feature engineering &amp; model training, and Collect Datasets from GovInd.</a:t>
            </a:r>
            <a:endParaRPr lang="en-US" sz="1500" dirty="0"/>
          </a:p>
        </p:txBody>
      </p:sp>
      <p:sp>
        <p:nvSpPr>
          <p:cNvPr id="7" name="Docs &amp; Files"/>
          <p:cNvSpPr txBox="1"/>
          <p:nvPr/>
        </p:nvSpPr>
        <p:spPr>
          <a:xfrm>
            <a:off x="8732520" y="4434840"/>
            <a:ext cx="2907792" cy="960120"/>
          </a:xfrm>
          <a:prstGeom prst="rect">
            <a:avLst/>
          </a:prstGeom>
          <a:noFill/>
          <a:ln/>
        </p:spPr>
        <p:txBody>
          <a:bodyPr wrap="square" lIns="0" tIns="0" rIns="0" bIns="0" rtlCol="0" anchor="t"/>
          <a:lstStyle/>
          <a:p>
            <a:pPr indent="0" marL="0">
              <a:spcAft>
                <a:spcPts val="200"/>
              </a:spcAft>
              <a:buNone/>
            </a:pPr>
            <a:r>
              <a:rPr lang="en-US" sz="1500" b="1" dirty="0">
                <a:solidFill>
                  <a:schemeClr val="accent1"/>
                </a:solidFill>
              </a:rPr>
              <a:t>Docs &amp; Files</a:t>
            </a:r>
            <a:endParaRPr lang="en-US" sz="1500" dirty="0"/>
          </a:p>
          <a:p>
            <a:pPr indent="0" marL="0">
              <a:spcAft>
                <a:spcPts val="200"/>
              </a:spcAft>
              <a:buNone/>
            </a:pPr>
            <a:r>
              <a:rPr lang="en-US" sz="1400" dirty="0">
                <a:solidFill>
                  <a:schemeClr val="tx1"/>
                </a:solidFill>
              </a:rPr>
              <a:t>The demo video, project proposal and reference documents are stored for the whole team.</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1207008"/>
            <a:ext cx="11091672"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Card Table, Automatic Check-ins and Calendar</a:t>
            </a:r>
            <a:endParaRPr lang="en-US" sz="3000" dirty="0"/>
          </a:p>
        </p:txBody>
      </p:sp>
      <p:sp>
        <p:nvSpPr>
          <p:cNvPr id="3" name="Screenshot frame"/>
          <p:cNvSpPr/>
          <p:nvPr/>
        </p:nvSpPr>
        <p:spPr>
          <a:xfrm>
            <a:off x="548640" y="2148840"/>
            <a:ext cx="7818120" cy="3672724"/>
          </a:xfrm>
          <a:prstGeom prst="rect">
            <a:avLst/>
          </a:prstGeom>
          <a:solidFill>
            <a:schemeClr val="accent2"/>
          </a:solidFill>
          <a:ln w="9525">
            <a:solidFill>
              <a:srgbClr val="D1D5DB"/>
            </a:solidFill>
            <a:prstDash val="solid"/>
          </a:ln>
          <a:effectLst>
            <a:outerShdw sx="100000" sy="100000" kx="0" ky="0" algn="bl" rotWithShape="0" blurRad="101600" dist="38100" dir="5400000">
              <a:srgbClr val="000000">
                <a:alpha val="25000"/>
              </a:srgbClr>
            </a:outerShdw>
          </a:effectLst>
        </p:spPr>
      </p:sp>
      <p:pic>
        <p:nvPicPr>
          <p:cNvPr id="4" name="Screenshot" descr="Basecamp Card Table, Automatic Check-ins and Calendar views">    </p:cNvPr>
          <p:cNvPicPr>
            <a:picLocks noChangeAspect="1"/>
          </p:cNvPicPr>
          <p:nvPr/>
        </p:nvPicPr>
        <p:blipFill>
          <a:blip r:embed="rId1"/>
          <a:stretch>
            <a:fillRect/>
          </a:stretch>
        </p:blipFill>
        <p:spPr>
          <a:xfrm>
            <a:off x="548640" y="2148840"/>
            <a:ext cx="7818120" cy="3672724"/>
          </a:xfrm>
          <a:prstGeom prst="rect">
            <a:avLst/>
          </a:prstGeom>
        </p:spPr>
      </p:pic>
      <p:sp>
        <p:nvSpPr>
          <p:cNvPr id="5" name="Card Table"/>
          <p:cNvSpPr txBox="1"/>
          <p:nvPr/>
        </p:nvSpPr>
        <p:spPr>
          <a:xfrm>
            <a:off x="8732520" y="2148840"/>
            <a:ext cx="2907792" cy="777240"/>
          </a:xfrm>
          <a:prstGeom prst="rect">
            <a:avLst/>
          </a:prstGeom>
          <a:noFill/>
          <a:ln/>
        </p:spPr>
        <p:txBody>
          <a:bodyPr wrap="square" lIns="0" tIns="0" rIns="0" bIns="0" rtlCol="0" anchor="t"/>
          <a:lstStyle/>
          <a:p>
            <a:pPr indent="0" marL="0">
              <a:spcAft>
                <a:spcPts val="200"/>
              </a:spcAft>
              <a:buNone/>
            </a:pPr>
            <a:r>
              <a:rPr lang="en-US" sz="1500" b="1" dirty="0">
                <a:solidFill>
                  <a:schemeClr val="accent1"/>
                </a:solidFill>
              </a:rPr>
              <a:t>Card Table</a:t>
            </a:r>
            <a:endParaRPr lang="en-US" sz="1500" dirty="0"/>
          </a:p>
          <a:p>
            <a:pPr indent="0" marL="0">
              <a:spcAft>
                <a:spcPts val="200"/>
              </a:spcAft>
              <a:buNone/>
            </a:pPr>
            <a:r>
              <a:rPr lang="en-US" sz="1400" dirty="0">
                <a:solidFill>
                  <a:schemeClr val="tx1"/>
                </a:solidFill>
              </a:rPr>
              <a:t>A Kanban board with Triage → Figuring it out → In progress → Done columns.</a:t>
            </a:r>
            <a:endParaRPr lang="en-US" sz="1500" dirty="0"/>
          </a:p>
        </p:txBody>
      </p:sp>
      <p:sp>
        <p:nvSpPr>
          <p:cNvPr id="6" name="Automatic Check-ins"/>
          <p:cNvSpPr txBox="1"/>
          <p:nvPr/>
        </p:nvSpPr>
        <p:spPr>
          <a:xfrm>
            <a:off x="8732520" y="3108960"/>
            <a:ext cx="2907792" cy="960120"/>
          </a:xfrm>
          <a:prstGeom prst="rect">
            <a:avLst/>
          </a:prstGeom>
          <a:noFill/>
          <a:ln/>
        </p:spPr>
        <p:txBody>
          <a:bodyPr wrap="square" lIns="0" tIns="0" rIns="0" bIns="0" rtlCol="0" anchor="t"/>
          <a:lstStyle/>
          <a:p>
            <a:pPr indent="0" marL="0">
              <a:spcAft>
                <a:spcPts val="200"/>
              </a:spcAft>
              <a:buNone/>
            </a:pPr>
            <a:r>
              <a:rPr lang="en-US" sz="1500" b="1" dirty="0">
                <a:solidFill>
                  <a:schemeClr val="accent1"/>
                </a:solidFill>
              </a:rPr>
              <a:t>Automatic Check-ins</a:t>
            </a:r>
            <a:endParaRPr lang="en-US" sz="1500" dirty="0"/>
          </a:p>
          <a:p>
            <a:pPr indent="0" marL="0">
              <a:spcAft>
                <a:spcPts val="200"/>
              </a:spcAft>
              <a:buNone/>
            </a:pPr>
            <a:r>
              <a:rPr lang="en-US" sz="1400" dirty="0">
                <a:solidFill>
                  <a:schemeClr val="tx1"/>
                </a:solidFill>
              </a:rPr>
              <a:t>A recurring question asks VS, J and VP what progress they have made and what comes next.</a:t>
            </a:r>
            <a:endParaRPr lang="en-US" sz="1500" dirty="0"/>
          </a:p>
        </p:txBody>
      </p:sp>
      <p:sp>
        <p:nvSpPr>
          <p:cNvPr id="7" name="Calendar"/>
          <p:cNvSpPr txBox="1"/>
          <p:nvPr/>
        </p:nvSpPr>
        <p:spPr>
          <a:xfrm>
            <a:off x="8732520" y="4251960"/>
            <a:ext cx="2907792" cy="960120"/>
          </a:xfrm>
          <a:prstGeom prst="rect">
            <a:avLst/>
          </a:prstGeom>
          <a:noFill/>
          <a:ln/>
        </p:spPr>
        <p:txBody>
          <a:bodyPr wrap="square" lIns="0" tIns="0" rIns="0" bIns="0" rtlCol="0" anchor="t"/>
          <a:lstStyle/>
          <a:p>
            <a:pPr indent="0" marL="0">
              <a:spcAft>
                <a:spcPts val="200"/>
              </a:spcAft>
              <a:buNone/>
            </a:pPr>
            <a:r>
              <a:rPr lang="en-US" sz="1500" b="1" dirty="0">
                <a:solidFill>
                  <a:schemeClr val="accent1"/>
                </a:solidFill>
              </a:rPr>
              <a:t>Calendar</a:t>
            </a:r>
            <a:endParaRPr lang="en-US" sz="1500" dirty="0"/>
          </a:p>
          <a:p>
            <a:pPr indent="0" marL="0">
              <a:spcAft>
                <a:spcPts val="200"/>
              </a:spcAft>
              <a:buNone/>
            </a:pPr>
            <a:r>
              <a:rPr lang="en-US" sz="1400" dirty="0">
                <a:solidFill>
                  <a:schemeClr val="tx1"/>
                </a:solidFill>
              </a:rPr>
              <a:t>Deadlines are visible to all: Frontend Dashboard (Oct 31) and Collect Datasets (Nov 5).</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1207008"/>
            <a:ext cx="11091672"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Latest Activity: every update in one feed</a:t>
            </a:r>
            <a:endParaRPr lang="en-US" sz="3000" dirty="0"/>
          </a:p>
        </p:txBody>
      </p:sp>
      <p:sp>
        <p:nvSpPr>
          <p:cNvPr id="3" name="Screenshot frame"/>
          <p:cNvSpPr/>
          <p:nvPr/>
        </p:nvSpPr>
        <p:spPr>
          <a:xfrm>
            <a:off x="548640" y="2148840"/>
            <a:ext cx="7818120" cy="3672724"/>
          </a:xfrm>
          <a:prstGeom prst="rect">
            <a:avLst/>
          </a:prstGeom>
          <a:solidFill>
            <a:schemeClr val="accent2"/>
          </a:solidFill>
          <a:ln w="9525">
            <a:solidFill>
              <a:srgbClr val="D1D5DB"/>
            </a:solidFill>
            <a:prstDash val="solid"/>
          </a:ln>
          <a:effectLst>
            <a:outerShdw sx="100000" sy="100000" kx="0" ky="0" algn="bl" rotWithShape="0" blurRad="101600" dist="38100" dir="5400000">
              <a:srgbClr val="000000">
                <a:alpha val="25000"/>
              </a:srgbClr>
            </a:outerShdw>
          </a:effectLst>
        </p:spPr>
      </p:sp>
      <p:pic>
        <p:nvPicPr>
          <p:cNvPr id="4" name="Screenshot" descr="Basecamp Latest Activity feed for October 28">    </p:cNvPr>
          <p:cNvPicPr>
            <a:picLocks noChangeAspect="1"/>
          </p:cNvPicPr>
          <p:nvPr/>
        </p:nvPicPr>
        <p:blipFill>
          <a:blip r:embed="rId1"/>
          <a:stretch>
            <a:fillRect/>
          </a:stretch>
        </p:blipFill>
        <p:spPr>
          <a:xfrm>
            <a:off x="548640" y="2148840"/>
            <a:ext cx="7818120" cy="3672724"/>
          </a:xfrm>
          <a:prstGeom prst="rect">
            <a:avLst/>
          </a:prstGeom>
        </p:spPr>
      </p:pic>
      <p:sp>
        <p:nvSpPr>
          <p:cNvPr id="5" name="Files uploaded"/>
          <p:cNvSpPr txBox="1"/>
          <p:nvPr/>
        </p:nvSpPr>
        <p:spPr>
          <a:xfrm>
            <a:off x="8732520" y="2148840"/>
            <a:ext cx="2907792" cy="777240"/>
          </a:xfrm>
          <a:prstGeom prst="rect">
            <a:avLst/>
          </a:prstGeom>
          <a:noFill/>
          <a:ln/>
        </p:spPr>
        <p:txBody>
          <a:bodyPr wrap="square" lIns="0" tIns="0" rIns="0" bIns="0" rtlCol="0" anchor="t"/>
          <a:lstStyle/>
          <a:p>
            <a:pPr indent="0" marL="0">
              <a:spcAft>
                <a:spcPts val="200"/>
              </a:spcAft>
              <a:buNone/>
            </a:pPr>
            <a:r>
              <a:rPr lang="en-US" sz="1500" b="1" dirty="0">
                <a:solidFill>
                  <a:schemeClr val="accent1"/>
                </a:solidFill>
              </a:rPr>
              <a:t>Files uploaded</a:t>
            </a:r>
            <a:endParaRPr lang="en-US" sz="1500" dirty="0"/>
          </a:p>
          <a:p>
            <a:pPr indent="0" marL="0">
              <a:spcAft>
                <a:spcPts val="200"/>
              </a:spcAft>
              <a:buNone/>
            </a:pPr>
            <a:r>
              <a:rPr lang="en-US" sz="1400" dirty="0">
                <a:solidFill>
                  <a:schemeClr val="tx1"/>
                </a:solidFill>
              </a:rPr>
              <a:t>Group11_Demo_Video.mp4 and Project proposal.md added to Docs &amp; Files.</a:t>
            </a:r>
            <a:endParaRPr lang="en-US" sz="1500" dirty="0"/>
          </a:p>
        </p:txBody>
      </p:sp>
      <p:sp>
        <p:nvSpPr>
          <p:cNvPr id="6" name="Check-in added"/>
          <p:cNvSpPr txBox="1"/>
          <p:nvPr/>
        </p:nvSpPr>
        <p:spPr>
          <a:xfrm>
            <a:off x="8732520" y="3108960"/>
            <a:ext cx="2907792" cy="777240"/>
          </a:xfrm>
          <a:prstGeom prst="rect">
            <a:avLst/>
          </a:prstGeom>
          <a:noFill/>
          <a:ln/>
        </p:spPr>
        <p:txBody>
          <a:bodyPr wrap="square" lIns="0" tIns="0" rIns="0" bIns="0" rtlCol="0" anchor="t"/>
          <a:lstStyle/>
          <a:p>
            <a:pPr indent="0" marL="0">
              <a:spcAft>
                <a:spcPts val="200"/>
              </a:spcAft>
              <a:buNone/>
            </a:pPr>
            <a:r>
              <a:rPr lang="en-US" sz="1500" b="1" dirty="0">
                <a:solidFill>
                  <a:schemeClr val="accent1"/>
                </a:solidFill>
              </a:rPr>
              <a:t>Check-in added</a:t>
            </a:r>
            <a:endParaRPr lang="en-US" sz="1500" dirty="0"/>
          </a:p>
          <a:p>
            <a:pPr indent="0" marL="0">
              <a:spcAft>
                <a:spcPts val="200"/>
              </a:spcAft>
              <a:buNone/>
            </a:pPr>
            <a:r>
              <a:rPr lang="en-US" sz="1400" dirty="0">
                <a:solidFill>
                  <a:schemeClr val="tx1"/>
                </a:solidFill>
              </a:rPr>
              <a:t>A progress question scheduled for the whole team.</a:t>
            </a:r>
            <a:endParaRPr lang="en-US" sz="1500" dirty="0"/>
          </a:p>
        </p:txBody>
      </p:sp>
      <p:sp>
        <p:nvSpPr>
          <p:cNvPr id="7" name="Subtasks &amp; to-dos"/>
          <p:cNvSpPr txBox="1"/>
          <p:nvPr/>
        </p:nvSpPr>
        <p:spPr>
          <a:xfrm>
            <a:off x="8732520" y="4069080"/>
            <a:ext cx="2907792" cy="1188720"/>
          </a:xfrm>
          <a:prstGeom prst="rect">
            <a:avLst/>
          </a:prstGeom>
          <a:noFill/>
          <a:ln/>
        </p:spPr>
        <p:txBody>
          <a:bodyPr wrap="square" lIns="0" tIns="0" rIns="0" bIns="0" rtlCol="0" anchor="t"/>
          <a:lstStyle/>
          <a:p>
            <a:pPr indent="0" marL="0">
              <a:spcAft>
                <a:spcPts val="200"/>
              </a:spcAft>
              <a:buNone/>
            </a:pPr>
            <a:r>
              <a:rPr lang="en-US" sz="1500" b="1" dirty="0">
                <a:solidFill>
                  <a:schemeClr val="accent1"/>
                </a:solidFill>
              </a:rPr>
              <a:t>Subtasks &amp; to-dos</a:t>
            </a:r>
            <a:endParaRPr lang="en-US" sz="1500" dirty="0"/>
          </a:p>
          <a:p>
            <a:pPr indent="0" marL="0">
              <a:spcAft>
                <a:spcPts val="200"/>
              </a:spcAft>
              <a:buNone/>
            </a:pPr>
            <a:r>
              <a:rPr lang="en-US" sz="1400" dirty="0">
                <a:solidFill>
                  <a:schemeClr val="tx1"/>
                </a:solidFill>
              </a:rPr>
              <a:t>“Verify dataset availability and quality” and “Validate feature engineering pipeline” added under Risks &amp; Blockers, plus three new to-dos.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1207008"/>
            <a:ext cx="11091672"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Activity history: how the project was built</a:t>
            </a:r>
            <a:endParaRPr lang="en-US" sz="3000" dirty="0"/>
          </a:p>
        </p:txBody>
      </p:sp>
      <p:sp>
        <p:nvSpPr>
          <p:cNvPr id="3" name="Screenshot frame"/>
          <p:cNvSpPr/>
          <p:nvPr/>
        </p:nvSpPr>
        <p:spPr>
          <a:xfrm>
            <a:off x="548640" y="2148840"/>
            <a:ext cx="7818120" cy="3672724"/>
          </a:xfrm>
          <a:prstGeom prst="rect">
            <a:avLst/>
          </a:prstGeom>
          <a:solidFill>
            <a:schemeClr val="accent2"/>
          </a:solidFill>
          <a:ln w="9525">
            <a:solidFill>
              <a:srgbClr val="D1D5DB"/>
            </a:solidFill>
            <a:prstDash val="solid"/>
          </a:ln>
          <a:effectLst>
            <a:outerShdw sx="100000" sy="100000" kx="0" ky="0" algn="bl" rotWithShape="0" blurRad="101600" dist="38100" dir="5400000">
              <a:srgbClr val="000000">
                <a:alpha val="25000"/>
              </a:srgbClr>
            </a:outerShdw>
          </a:effectLst>
        </p:spPr>
      </p:sp>
      <p:pic>
        <p:nvPicPr>
          <p:cNvPr id="4" name="Screenshot" descr="Basecamp activity history showing project creation through task setup">    </p:cNvPr>
          <p:cNvPicPr>
            <a:picLocks noChangeAspect="1"/>
          </p:cNvPicPr>
          <p:nvPr/>
        </p:nvPicPr>
        <p:blipFill>
          <a:blip r:embed="rId1"/>
          <a:stretch>
            <a:fillRect/>
          </a:stretch>
        </p:blipFill>
        <p:spPr>
          <a:xfrm>
            <a:off x="548640" y="2148840"/>
            <a:ext cx="7818120" cy="3672724"/>
          </a:xfrm>
          <a:prstGeom prst="rect">
            <a:avLst/>
          </a:prstGeom>
        </p:spPr>
      </p:pic>
      <p:sp>
        <p:nvSpPr>
          <p:cNvPr id="5" name="10:55 – 10:59"/>
          <p:cNvSpPr txBox="1"/>
          <p:nvPr/>
        </p:nvSpPr>
        <p:spPr>
          <a:xfrm>
            <a:off x="8732520" y="2148840"/>
            <a:ext cx="2907792" cy="777240"/>
          </a:xfrm>
          <a:prstGeom prst="rect">
            <a:avLst/>
          </a:prstGeom>
          <a:noFill/>
          <a:ln/>
        </p:spPr>
        <p:txBody>
          <a:bodyPr wrap="square" lIns="0" tIns="0" rIns="0" bIns="0" rtlCol="0" anchor="t"/>
          <a:lstStyle/>
          <a:p>
            <a:pPr indent="0" marL="0">
              <a:spcAft>
                <a:spcPts val="200"/>
              </a:spcAft>
              <a:buNone/>
            </a:pPr>
            <a:r>
              <a:rPr lang="en-US" sz="1500" b="1" dirty="0">
                <a:solidFill>
                  <a:schemeClr val="accent1"/>
                </a:solidFill>
              </a:rPr>
              <a:t>10:55 – 10:59</a:t>
            </a:r>
            <a:endParaRPr lang="en-US" sz="1500" dirty="0"/>
          </a:p>
          <a:p>
            <a:pPr indent="0" marL="0">
              <a:spcAft>
                <a:spcPts val="200"/>
              </a:spcAft>
              <a:buNone/>
            </a:pPr>
            <a:r>
              <a:rPr lang="en-US" sz="1400" dirty="0">
                <a:solidFill>
                  <a:schemeClr val="tx1"/>
                </a:solidFill>
              </a:rPr>
              <a:t>Project created, submission message posted, Jainam and Vansh added to the team.</a:t>
            </a:r>
            <a:endParaRPr lang="en-US" sz="1500" dirty="0"/>
          </a:p>
        </p:txBody>
      </p:sp>
      <p:sp>
        <p:nvSpPr>
          <p:cNvPr id="6" name="11:03 – 11:05"/>
          <p:cNvSpPr txBox="1"/>
          <p:nvPr/>
        </p:nvSpPr>
        <p:spPr>
          <a:xfrm>
            <a:off x="8732520" y="3108960"/>
            <a:ext cx="2907792" cy="777240"/>
          </a:xfrm>
          <a:prstGeom prst="rect">
            <a:avLst/>
          </a:prstGeom>
          <a:noFill/>
          <a:ln/>
        </p:spPr>
        <p:txBody>
          <a:bodyPr wrap="square" lIns="0" tIns="0" rIns="0" bIns="0" rtlCol="0" anchor="t"/>
          <a:lstStyle/>
          <a:p>
            <a:pPr indent="0" marL="0">
              <a:spcAft>
                <a:spcPts val="200"/>
              </a:spcAft>
              <a:buNone/>
            </a:pPr>
            <a:r>
              <a:rPr lang="en-US" sz="1500" b="1" dirty="0">
                <a:solidFill>
                  <a:schemeClr val="accent1"/>
                </a:solidFill>
              </a:rPr>
              <a:t>11:03 – 11:05</a:t>
            </a:r>
            <a:endParaRPr lang="en-US" sz="1500" dirty="0"/>
          </a:p>
          <a:p>
            <a:pPr indent="0" marL="0">
              <a:spcAft>
                <a:spcPts val="200"/>
              </a:spcAft>
              <a:buNone/>
            </a:pPr>
            <a:r>
              <a:rPr lang="en-US" sz="1400" dirty="0">
                <a:solidFill>
                  <a:schemeClr val="tx1"/>
                </a:solidFill>
              </a:rPr>
              <a:t>Reference document posted; Jainam replied with the code on GitHub (ArchGuard).</a:t>
            </a:r>
            <a:endParaRPr lang="en-US" sz="1500" dirty="0"/>
          </a:p>
        </p:txBody>
      </p:sp>
      <p:sp>
        <p:nvSpPr>
          <p:cNvPr id="7" name="11:08"/>
          <p:cNvSpPr txBox="1"/>
          <p:nvPr/>
        </p:nvSpPr>
        <p:spPr>
          <a:xfrm>
            <a:off x="8732520" y="4069080"/>
            <a:ext cx="2907792" cy="777240"/>
          </a:xfrm>
          <a:prstGeom prst="rect">
            <a:avLst/>
          </a:prstGeom>
          <a:noFill/>
          <a:ln/>
        </p:spPr>
        <p:txBody>
          <a:bodyPr wrap="square" lIns="0" tIns="0" rIns="0" bIns="0" rtlCol="0" anchor="t"/>
          <a:lstStyle/>
          <a:p>
            <a:pPr indent="0" marL="0">
              <a:spcAft>
                <a:spcPts val="200"/>
              </a:spcAft>
              <a:buNone/>
            </a:pPr>
            <a:r>
              <a:rPr lang="en-US" sz="1500" b="1" dirty="0">
                <a:solidFill>
                  <a:schemeClr val="accent1"/>
                </a:solidFill>
              </a:rPr>
              <a:t>11:08</a:t>
            </a:r>
            <a:endParaRPr lang="en-US" sz="1500" dirty="0"/>
          </a:p>
          <a:p>
            <a:pPr indent="0" marL="0">
              <a:spcAft>
                <a:spcPts val="200"/>
              </a:spcAft>
              <a:buNone/>
            </a:pPr>
            <a:r>
              <a:rPr lang="en-US" sz="1400" dirty="0">
                <a:solidFill>
                  <a:schemeClr val="tx1"/>
                </a:solidFill>
              </a:rPr>
              <a:t>Frontend Dashboard card created with a subtask: research how to deploy it.</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1207008"/>
            <a:ext cx="11091672"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Demo workflow, step by step</a:t>
            </a:r>
            <a:endParaRPr lang="en-US" sz="3000" dirty="0"/>
          </a:p>
        </p:txBody>
      </p:sp>
      <p:sp>
        <p:nvSpPr>
          <p:cNvPr id="3" name="Create step card"/>
          <p:cNvSpPr/>
          <p:nvPr/>
        </p:nvSpPr>
        <p:spPr>
          <a:xfrm>
            <a:off x="548640" y="2286000"/>
            <a:ext cx="1737360" cy="3291840"/>
          </a:xfrm>
          <a:prstGeom prst="roundRect">
            <a:avLst>
              <a:gd name="adj" fmla="val 4211"/>
            </a:avLst>
          </a:prstGeom>
          <a:solidFill>
            <a:schemeClr val="bg2"/>
          </a:solidFill>
          <a:ln w="12700">
            <a:solidFill>
              <a:schemeClr val="bg2"/>
            </a:solidFill>
            <a:prstDash val="solid"/>
          </a:ln>
        </p:spPr>
      </p:sp>
      <p:sp>
        <p:nvSpPr>
          <p:cNvPr id="4" name="Text 2"/>
          <p:cNvSpPr txBox="1"/>
          <p:nvPr/>
        </p:nvSpPr>
        <p:spPr>
          <a:xfrm>
            <a:off x="731520" y="2423160"/>
            <a:ext cx="914400" cy="411480"/>
          </a:xfrm>
          <a:prstGeom prst="rect">
            <a:avLst/>
          </a:prstGeom>
          <a:noFill/>
          <a:ln/>
        </p:spPr>
        <p:txBody>
          <a:bodyPr wrap="square" lIns="0" tIns="0" rIns="0" bIns="0" rtlCol="0" anchor="ctr"/>
          <a:lstStyle/>
          <a:p>
            <a:pPr indent="0" marL="0">
              <a:buNone/>
            </a:pPr>
            <a:r>
              <a:rPr lang="en-US" sz="2200" b="1" dirty="0">
                <a:solidFill>
                  <a:schemeClr val="accent5"/>
                </a:solidFill>
                <a:latin typeface="Cambria" pitchFamily="34" charset="0"/>
                <a:ea typeface="Cambria" pitchFamily="34" charset="-122"/>
                <a:cs typeface="Cambria" pitchFamily="34" charset="-120"/>
              </a:rPr>
              <a:t>01</a:t>
            </a:r>
            <a:endParaRPr lang="en-US" sz="2200" dirty="0"/>
          </a:p>
        </p:txBody>
      </p:sp>
      <p:sp>
        <p:nvSpPr>
          <p:cNvPr id="5" name="Create circle"/>
          <p:cNvSpPr/>
          <p:nvPr/>
        </p:nvSpPr>
        <p:spPr>
          <a:xfrm>
            <a:off x="1051560" y="2926080"/>
            <a:ext cx="731520" cy="731520"/>
          </a:xfrm>
          <a:prstGeom prst="ellipse">
            <a:avLst/>
          </a:prstGeom>
          <a:solidFill>
            <a:schemeClr val="accent1"/>
          </a:solidFill>
          <a:ln w="12700">
            <a:solidFill>
              <a:schemeClr val="accent1"/>
            </a:solidFill>
            <a:prstDash val="solid"/>
          </a:ln>
        </p:spPr>
      </p:sp>
      <p:pic>
        <p:nvPicPr>
          <p:cNvPr id="6" name="Create icon" descr="Create">    </p:cNvPr>
          <p:cNvPicPr>
            <a:picLocks noChangeAspect="1"/>
          </p:cNvPicPr>
          <p:nvPr/>
        </p:nvPicPr>
        <p:blipFill>
          <a:blip r:embed="rId1"/>
          <a:stretch>
            <a:fillRect/>
          </a:stretch>
        </p:blipFill>
        <p:spPr>
          <a:xfrm>
            <a:off x="1241755" y="3116275"/>
            <a:ext cx="351130" cy="351130"/>
          </a:xfrm>
          <a:prstGeom prst="rect">
            <a:avLst/>
          </a:prstGeom>
        </p:spPr>
      </p:pic>
      <p:sp>
        <p:nvSpPr>
          <p:cNvPr id="7" name="Text 4"/>
          <p:cNvSpPr txBox="1"/>
          <p:nvPr/>
        </p:nvSpPr>
        <p:spPr>
          <a:xfrm>
            <a:off x="685800" y="3794760"/>
            <a:ext cx="1463040" cy="365760"/>
          </a:xfrm>
          <a:prstGeom prst="rect">
            <a:avLst/>
          </a:prstGeom>
          <a:noFill/>
          <a:ln/>
        </p:spPr>
        <p:txBody>
          <a:bodyPr wrap="square" lIns="0" tIns="0" rIns="0" bIns="0" rtlCol="0" anchor="ctr"/>
          <a:lstStyle/>
          <a:p>
            <a:pPr algn="ctr" indent="0" marL="0">
              <a:buNone/>
            </a:pPr>
            <a:r>
              <a:rPr lang="en-US" sz="1700" b="1" dirty="0">
                <a:solidFill>
                  <a:schemeClr val="tx2"/>
                </a:solidFill>
              </a:rPr>
              <a:t>Create</a:t>
            </a:r>
            <a:endParaRPr lang="en-US" sz="1700" dirty="0"/>
          </a:p>
        </p:txBody>
      </p:sp>
      <p:sp>
        <p:nvSpPr>
          <p:cNvPr id="8" name="Text 5"/>
          <p:cNvSpPr txBox="1"/>
          <p:nvPr/>
        </p:nvSpPr>
        <p:spPr>
          <a:xfrm>
            <a:off x="685800" y="4206240"/>
            <a:ext cx="1463040" cy="1234440"/>
          </a:xfrm>
          <a:prstGeom prst="rect">
            <a:avLst/>
          </a:prstGeom>
          <a:noFill/>
          <a:ln/>
        </p:spPr>
        <p:txBody>
          <a:bodyPr wrap="square" lIns="0" tIns="0" rIns="0" bIns="0" rtlCol="0" anchor="t"/>
          <a:lstStyle/>
          <a:p>
            <a:pPr algn="ctr" indent="0" marL="0">
              <a:buNone/>
            </a:pPr>
            <a:r>
              <a:rPr lang="en-US" sz="1300" dirty="0">
                <a:solidFill>
                  <a:schemeClr val="tx1"/>
                </a:solidFill>
              </a:rPr>
              <a:t>Set up the “Capstone Project Management System” project</a:t>
            </a:r>
            <a:endParaRPr lang="en-US" sz="1300" dirty="0"/>
          </a:p>
        </p:txBody>
      </p:sp>
      <p:sp>
        <p:nvSpPr>
          <p:cNvPr id="9" name="Invite step card"/>
          <p:cNvSpPr/>
          <p:nvPr/>
        </p:nvSpPr>
        <p:spPr>
          <a:xfrm>
            <a:off x="2419502" y="2286000"/>
            <a:ext cx="1737360" cy="3291840"/>
          </a:xfrm>
          <a:prstGeom prst="roundRect">
            <a:avLst>
              <a:gd name="adj" fmla="val 4211"/>
            </a:avLst>
          </a:prstGeom>
          <a:solidFill>
            <a:schemeClr val="bg2"/>
          </a:solidFill>
          <a:ln w="12700">
            <a:solidFill>
              <a:schemeClr val="bg2"/>
            </a:solidFill>
            <a:prstDash val="solid"/>
          </a:ln>
        </p:spPr>
      </p:sp>
      <p:sp>
        <p:nvSpPr>
          <p:cNvPr id="10" name="Text 7"/>
          <p:cNvSpPr txBox="1"/>
          <p:nvPr/>
        </p:nvSpPr>
        <p:spPr>
          <a:xfrm>
            <a:off x="2602382" y="2423160"/>
            <a:ext cx="914400" cy="411480"/>
          </a:xfrm>
          <a:prstGeom prst="rect">
            <a:avLst/>
          </a:prstGeom>
          <a:noFill/>
          <a:ln/>
        </p:spPr>
        <p:txBody>
          <a:bodyPr wrap="square" lIns="0" tIns="0" rIns="0" bIns="0" rtlCol="0" anchor="ctr"/>
          <a:lstStyle/>
          <a:p>
            <a:pPr indent="0" marL="0">
              <a:buNone/>
            </a:pPr>
            <a:r>
              <a:rPr lang="en-US" sz="2200" b="1" dirty="0">
                <a:solidFill>
                  <a:schemeClr val="accent5"/>
                </a:solidFill>
                <a:latin typeface="Cambria" pitchFamily="34" charset="0"/>
                <a:ea typeface="Cambria" pitchFamily="34" charset="-122"/>
                <a:cs typeface="Cambria" pitchFamily="34" charset="-120"/>
              </a:rPr>
              <a:t>02</a:t>
            </a:r>
            <a:endParaRPr lang="en-US" sz="2200" dirty="0"/>
          </a:p>
        </p:txBody>
      </p:sp>
      <p:sp>
        <p:nvSpPr>
          <p:cNvPr id="11" name="Invite circle"/>
          <p:cNvSpPr/>
          <p:nvPr/>
        </p:nvSpPr>
        <p:spPr>
          <a:xfrm>
            <a:off x="2922422" y="2926080"/>
            <a:ext cx="731520" cy="731520"/>
          </a:xfrm>
          <a:prstGeom prst="ellipse">
            <a:avLst/>
          </a:prstGeom>
          <a:solidFill>
            <a:schemeClr val="accent1"/>
          </a:solidFill>
          <a:ln w="12700">
            <a:solidFill>
              <a:schemeClr val="accent1"/>
            </a:solidFill>
            <a:prstDash val="solid"/>
          </a:ln>
        </p:spPr>
      </p:sp>
      <p:pic>
        <p:nvPicPr>
          <p:cNvPr id="12" name="Invite icon" descr="Invite">    </p:cNvPr>
          <p:cNvPicPr>
            <a:picLocks noChangeAspect="1"/>
          </p:cNvPicPr>
          <p:nvPr/>
        </p:nvPicPr>
        <p:blipFill>
          <a:blip r:embed="rId2"/>
          <a:stretch>
            <a:fillRect/>
          </a:stretch>
        </p:blipFill>
        <p:spPr>
          <a:xfrm>
            <a:off x="3112618" y="3116275"/>
            <a:ext cx="351130" cy="351130"/>
          </a:xfrm>
          <a:prstGeom prst="rect">
            <a:avLst/>
          </a:prstGeom>
        </p:spPr>
      </p:pic>
      <p:sp>
        <p:nvSpPr>
          <p:cNvPr id="13" name="Text 9"/>
          <p:cNvSpPr txBox="1"/>
          <p:nvPr/>
        </p:nvSpPr>
        <p:spPr>
          <a:xfrm>
            <a:off x="2556662" y="3794760"/>
            <a:ext cx="1463040" cy="365760"/>
          </a:xfrm>
          <a:prstGeom prst="rect">
            <a:avLst/>
          </a:prstGeom>
          <a:noFill/>
          <a:ln/>
        </p:spPr>
        <p:txBody>
          <a:bodyPr wrap="square" lIns="0" tIns="0" rIns="0" bIns="0" rtlCol="0" anchor="ctr"/>
          <a:lstStyle/>
          <a:p>
            <a:pPr algn="ctr" indent="0" marL="0">
              <a:buNone/>
            </a:pPr>
            <a:r>
              <a:rPr lang="en-US" sz="1700" b="1" dirty="0">
                <a:solidFill>
                  <a:schemeClr val="tx2"/>
                </a:solidFill>
              </a:rPr>
              <a:t>Invite</a:t>
            </a:r>
            <a:endParaRPr lang="en-US" sz="1700" dirty="0"/>
          </a:p>
        </p:txBody>
      </p:sp>
      <p:sp>
        <p:nvSpPr>
          <p:cNvPr id="14" name="Text 10"/>
          <p:cNvSpPr txBox="1"/>
          <p:nvPr/>
        </p:nvSpPr>
        <p:spPr>
          <a:xfrm>
            <a:off x="2556662" y="4206240"/>
            <a:ext cx="1463040" cy="1234440"/>
          </a:xfrm>
          <a:prstGeom prst="rect">
            <a:avLst/>
          </a:prstGeom>
          <a:noFill/>
          <a:ln/>
        </p:spPr>
        <p:txBody>
          <a:bodyPr wrap="square" lIns="0" tIns="0" rIns="0" bIns="0" rtlCol="0" anchor="t"/>
          <a:lstStyle/>
          <a:p>
            <a:pPr algn="ctr" indent="0" marL="0">
              <a:buNone/>
            </a:pPr>
            <a:r>
              <a:rPr lang="en-US" sz="1300" dirty="0">
                <a:solidFill>
                  <a:schemeClr val="tx1"/>
                </a:solidFill>
              </a:rPr>
              <a:t>Add teammates so everyone sees the same project</a:t>
            </a:r>
            <a:endParaRPr lang="en-US" sz="1300" dirty="0"/>
          </a:p>
        </p:txBody>
      </p:sp>
      <p:sp>
        <p:nvSpPr>
          <p:cNvPr id="15" name="Communicate step card"/>
          <p:cNvSpPr/>
          <p:nvPr/>
        </p:nvSpPr>
        <p:spPr>
          <a:xfrm>
            <a:off x="4290365" y="2286000"/>
            <a:ext cx="1737360" cy="3291840"/>
          </a:xfrm>
          <a:prstGeom prst="roundRect">
            <a:avLst>
              <a:gd name="adj" fmla="val 4211"/>
            </a:avLst>
          </a:prstGeom>
          <a:solidFill>
            <a:schemeClr val="bg2"/>
          </a:solidFill>
          <a:ln w="12700">
            <a:solidFill>
              <a:schemeClr val="bg2"/>
            </a:solidFill>
            <a:prstDash val="solid"/>
          </a:ln>
        </p:spPr>
      </p:sp>
      <p:sp>
        <p:nvSpPr>
          <p:cNvPr id="16" name="Text 12"/>
          <p:cNvSpPr txBox="1"/>
          <p:nvPr/>
        </p:nvSpPr>
        <p:spPr>
          <a:xfrm>
            <a:off x="4473245" y="2423160"/>
            <a:ext cx="914400" cy="411480"/>
          </a:xfrm>
          <a:prstGeom prst="rect">
            <a:avLst/>
          </a:prstGeom>
          <a:noFill/>
          <a:ln/>
        </p:spPr>
        <p:txBody>
          <a:bodyPr wrap="square" lIns="0" tIns="0" rIns="0" bIns="0" rtlCol="0" anchor="ctr"/>
          <a:lstStyle/>
          <a:p>
            <a:pPr indent="0" marL="0">
              <a:buNone/>
            </a:pPr>
            <a:r>
              <a:rPr lang="en-US" sz="2200" b="1" dirty="0">
                <a:solidFill>
                  <a:schemeClr val="accent5"/>
                </a:solidFill>
                <a:latin typeface="Cambria" pitchFamily="34" charset="0"/>
                <a:ea typeface="Cambria" pitchFamily="34" charset="-122"/>
                <a:cs typeface="Cambria" pitchFamily="34" charset="-120"/>
              </a:rPr>
              <a:t>03</a:t>
            </a:r>
            <a:endParaRPr lang="en-US" sz="2200" dirty="0"/>
          </a:p>
        </p:txBody>
      </p:sp>
      <p:sp>
        <p:nvSpPr>
          <p:cNvPr id="17" name="Communicate circle"/>
          <p:cNvSpPr/>
          <p:nvPr/>
        </p:nvSpPr>
        <p:spPr>
          <a:xfrm>
            <a:off x="4793285" y="2926080"/>
            <a:ext cx="731520" cy="731520"/>
          </a:xfrm>
          <a:prstGeom prst="ellipse">
            <a:avLst/>
          </a:prstGeom>
          <a:solidFill>
            <a:schemeClr val="accent1"/>
          </a:solidFill>
          <a:ln w="12700">
            <a:solidFill>
              <a:schemeClr val="accent1"/>
            </a:solidFill>
            <a:prstDash val="solid"/>
          </a:ln>
        </p:spPr>
      </p:sp>
      <p:pic>
        <p:nvPicPr>
          <p:cNvPr id="18" name="Communicate icon" descr="Communicate">    </p:cNvPr>
          <p:cNvPicPr>
            <a:picLocks noChangeAspect="1"/>
          </p:cNvPicPr>
          <p:nvPr/>
        </p:nvPicPr>
        <p:blipFill>
          <a:blip r:embed="rId3"/>
          <a:stretch>
            <a:fillRect/>
          </a:stretch>
        </p:blipFill>
        <p:spPr>
          <a:xfrm>
            <a:off x="4983480" y="3116275"/>
            <a:ext cx="351130" cy="351130"/>
          </a:xfrm>
          <a:prstGeom prst="rect">
            <a:avLst/>
          </a:prstGeom>
        </p:spPr>
      </p:pic>
      <p:sp>
        <p:nvSpPr>
          <p:cNvPr id="19" name="Text 14"/>
          <p:cNvSpPr txBox="1"/>
          <p:nvPr/>
        </p:nvSpPr>
        <p:spPr>
          <a:xfrm>
            <a:off x="4427525" y="3794760"/>
            <a:ext cx="1463040" cy="365760"/>
          </a:xfrm>
          <a:prstGeom prst="rect">
            <a:avLst/>
          </a:prstGeom>
          <a:noFill/>
          <a:ln/>
        </p:spPr>
        <p:txBody>
          <a:bodyPr wrap="square" lIns="0" tIns="0" rIns="0" bIns="0" rtlCol="0" anchor="ctr"/>
          <a:lstStyle/>
          <a:p>
            <a:pPr algn="ctr" indent="0" marL="0">
              <a:buNone/>
            </a:pPr>
            <a:r>
              <a:rPr lang="en-US" sz="1700" b="1" dirty="0">
                <a:solidFill>
                  <a:schemeClr val="tx2"/>
                </a:solidFill>
              </a:rPr>
              <a:t>Communicate</a:t>
            </a:r>
            <a:endParaRPr lang="en-US" sz="1700" dirty="0"/>
          </a:p>
        </p:txBody>
      </p:sp>
      <p:sp>
        <p:nvSpPr>
          <p:cNvPr id="20" name="Text 15"/>
          <p:cNvSpPr txBox="1"/>
          <p:nvPr/>
        </p:nvSpPr>
        <p:spPr>
          <a:xfrm>
            <a:off x="4427525" y="4206240"/>
            <a:ext cx="1463040" cy="1234440"/>
          </a:xfrm>
          <a:prstGeom prst="rect">
            <a:avLst/>
          </a:prstGeom>
          <a:noFill/>
          <a:ln/>
        </p:spPr>
        <p:txBody>
          <a:bodyPr wrap="square" lIns="0" tIns="0" rIns="0" bIns="0" rtlCol="0" anchor="t"/>
          <a:lstStyle/>
          <a:p>
            <a:pPr algn="ctr" indent="0" marL="0">
              <a:buNone/>
            </a:pPr>
            <a:r>
              <a:rPr lang="en-US" sz="1300" dirty="0">
                <a:solidFill>
                  <a:schemeClr val="tx1"/>
                </a:solidFill>
              </a:rPr>
              <a:t>Post the brief on the Message Board; reply in comments</a:t>
            </a:r>
            <a:endParaRPr lang="en-US" sz="1300" dirty="0"/>
          </a:p>
        </p:txBody>
      </p:sp>
      <p:sp>
        <p:nvSpPr>
          <p:cNvPr id="21" name="Plan step card"/>
          <p:cNvSpPr/>
          <p:nvPr/>
        </p:nvSpPr>
        <p:spPr>
          <a:xfrm>
            <a:off x="6161227" y="2286000"/>
            <a:ext cx="1737360" cy="3291840"/>
          </a:xfrm>
          <a:prstGeom prst="roundRect">
            <a:avLst>
              <a:gd name="adj" fmla="val 4211"/>
            </a:avLst>
          </a:prstGeom>
          <a:solidFill>
            <a:schemeClr val="bg2"/>
          </a:solidFill>
          <a:ln w="12700">
            <a:solidFill>
              <a:schemeClr val="bg2"/>
            </a:solidFill>
            <a:prstDash val="solid"/>
          </a:ln>
        </p:spPr>
      </p:sp>
      <p:sp>
        <p:nvSpPr>
          <p:cNvPr id="22" name="Text 17"/>
          <p:cNvSpPr txBox="1"/>
          <p:nvPr/>
        </p:nvSpPr>
        <p:spPr>
          <a:xfrm>
            <a:off x="6344107" y="2423160"/>
            <a:ext cx="914400" cy="411480"/>
          </a:xfrm>
          <a:prstGeom prst="rect">
            <a:avLst/>
          </a:prstGeom>
          <a:noFill/>
          <a:ln/>
        </p:spPr>
        <p:txBody>
          <a:bodyPr wrap="square" lIns="0" tIns="0" rIns="0" bIns="0" rtlCol="0" anchor="ctr"/>
          <a:lstStyle/>
          <a:p>
            <a:pPr indent="0" marL="0">
              <a:buNone/>
            </a:pPr>
            <a:r>
              <a:rPr lang="en-US" sz="2200" b="1" dirty="0">
                <a:solidFill>
                  <a:schemeClr val="accent5"/>
                </a:solidFill>
                <a:latin typeface="Cambria" pitchFamily="34" charset="0"/>
                <a:ea typeface="Cambria" pitchFamily="34" charset="-122"/>
                <a:cs typeface="Cambria" pitchFamily="34" charset="-120"/>
              </a:rPr>
              <a:t>04</a:t>
            </a:r>
            <a:endParaRPr lang="en-US" sz="2200" dirty="0"/>
          </a:p>
        </p:txBody>
      </p:sp>
      <p:sp>
        <p:nvSpPr>
          <p:cNvPr id="23" name="Plan circle"/>
          <p:cNvSpPr/>
          <p:nvPr/>
        </p:nvSpPr>
        <p:spPr>
          <a:xfrm>
            <a:off x="6664147" y="2926080"/>
            <a:ext cx="731520" cy="731520"/>
          </a:xfrm>
          <a:prstGeom prst="ellipse">
            <a:avLst/>
          </a:prstGeom>
          <a:solidFill>
            <a:schemeClr val="accent1"/>
          </a:solidFill>
          <a:ln w="12700">
            <a:solidFill>
              <a:schemeClr val="accent1"/>
            </a:solidFill>
            <a:prstDash val="solid"/>
          </a:ln>
        </p:spPr>
      </p:sp>
      <p:pic>
        <p:nvPicPr>
          <p:cNvPr id="24" name="Plan icon" descr="Plan">    </p:cNvPr>
          <p:cNvPicPr>
            <a:picLocks noChangeAspect="1"/>
          </p:cNvPicPr>
          <p:nvPr/>
        </p:nvPicPr>
        <p:blipFill>
          <a:blip r:embed="rId4"/>
          <a:stretch>
            <a:fillRect/>
          </a:stretch>
        </p:blipFill>
        <p:spPr>
          <a:xfrm>
            <a:off x="6854342" y="3116275"/>
            <a:ext cx="351130" cy="351130"/>
          </a:xfrm>
          <a:prstGeom prst="rect">
            <a:avLst/>
          </a:prstGeom>
        </p:spPr>
      </p:pic>
      <p:sp>
        <p:nvSpPr>
          <p:cNvPr id="25" name="Text 19"/>
          <p:cNvSpPr txBox="1"/>
          <p:nvPr/>
        </p:nvSpPr>
        <p:spPr>
          <a:xfrm>
            <a:off x="6298387" y="3794760"/>
            <a:ext cx="1463040" cy="365760"/>
          </a:xfrm>
          <a:prstGeom prst="rect">
            <a:avLst/>
          </a:prstGeom>
          <a:noFill/>
          <a:ln/>
        </p:spPr>
        <p:txBody>
          <a:bodyPr wrap="square" lIns="0" tIns="0" rIns="0" bIns="0" rtlCol="0" anchor="ctr"/>
          <a:lstStyle/>
          <a:p>
            <a:pPr algn="ctr" indent="0" marL="0">
              <a:buNone/>
            </a:pPr>
            <a:r>
              <a:rPr lang="en-US" sz="1700" b="1" dirty="0">
                <a:solidFill>
                  <a:schemeClr val="tx2"/>
                </a:solidFill>
              </a:rPr>
              <a:t>Plan</a:t>
            </a:r>
            <a:endParaRPr lang="en-US" sz="1700" dirty="0"/>
          </a:p>
        </p:txBody>
      </p:sp>
      <p:sp>
        <p:nvSpPr>
          <p:cNvPr id="26" name="Text 20"/>
          <p:cNvSpPr txBox="1"/>
          <p:nvPr/>
        </p:nvSpPr>
        <p:spPr>
          <a:xfrm>
            <a:off x="6298387" y="4206240"/>
            <a:ext cx="1463040" cy="1234440"/>
          </a:xfrm>
          <a:prstGeom prst="rect">
            <a:avLst/>
          </a:prstGeom>
          <a:noFill/>
          <a:ln/>
        </p:spPr>
        <p:txBody>
          <a:bodyPr wrap="square" lIns="0" tIns="0" rIns="0" bIns="0" rtlCol="0" anchor="t"/>
          <a:lstStyle/>
          <a:p>
            <a:pPr algn="ctr" indent="0" marL="0">
              <a:buNone/>
            </a:pPr>
            <a:r>
              <a:rPr lang="en-US" sz="1300" dirty="0">
                <a:solidFill>
                  <a:schemeClr val="tx1"/>
                </a:solidFill>
              </a:rPr>
              <a:t>Break work into to-dos, subtasks and Card Table cards</a:t>
            </a:r>
            <a:endParaRPr lang="en-US" sz="1300" dirty="0"/>
          </a:p>
        </p:txBody>
      </p:sp>
      <p:sp>
        <p:nvSpPr>
          <p:cNvPr id="27" name="Track step card"/>
          <p:cNvSpPr/>
          <p:nvPr/>
        </p:nvSpPr>
        <p:spPr>
          <a:xfrm>
            <a:off x="8032090" y="2286000"/>
            <a:ext cx="1737360" cy="3291840"/>
          </a:xfrm>
          <a:prstGeom prst="roundRect">
            <a:avLst>
              <a:gd name="adj" fmla="val 4211"/>
            </a:avLst>
          </a:prstGeom>
          <a:solidFill>
            <a:schemeClr val="bg2"/>
          </a:solidFill>
          <a:ln w="12700">
            <a:solidFill>
              <a:schemeClr val="bg2"/>
            </a:solidFill>
            <a:prstDash val="solid"/>
          </a:ln>
        </p:spPr>
      </p:sp>
      <p:sp>
        <p:nvSpPr>
          <p:cNvPr id="28" name="Text 22"/>
          <p:cNvSpPr txBox="1"/>
          <p:nvPr/>
        </p:nvSpPr>
        <p:spPr>
          <a:xfrm>
            <a:off x="8214970" y="2423160"/>
            <a:ext cx="914400" cy="411480"/>
          </a:xfrm>
          <a:prstGeom prst="rect">
            <a:avLst/>
          </a:prstGeom>
          <a:noFill/>
          <a:ln/>
        </p:spPr>
        <p:txBody>
          <a:bodyPr wrap="square" lIns="0" tIns="0" rIns="0" bIns="0" rtlCol="0" anchor="ctr"/>
          <a:lstStyle/>
          <a:p>
            <a:pPr indent="0" marL="0">
              <a:buNone/>
            </a:pPr>
            <a:r>
              <a:rPr lang="en-US" sz="2200" b="1" dirty="0">
                <a:solidFill>
                  <a:schemeClr val="accent5"/>
                </a:solidFill>
                <a:latin typeface="Cambria" pitchFamily="34" charset="0"/>
                <a:ea typeface="Cambria" pitchFamily="34" charset="-122"/>
                <a:cs typeface="Cambria" pitchFamily="34" charset="-120"/>
              </a:rPr>
              <a:t>05</a:t>
            </a:r>
            <a:endParaRPr lang="en-US" sz="2200" dirty="0"/>
          </a:p>
        </p:txBody>
      </p:sp>
      <p:sp>
        <p:nvSpPr>
          <p:cNvPr id="29" name="Track circle"/>
          <p:cNvSpPr/>
          <p:nvPr/>
        </p:nvSpPr>
        <p:spPr>
          <a:xfrm>
            <a:off x="8535010" y="2926080"/>
            <a:ext cx="731520" cy="731520"/>
          </a:xfrm>
          <a:prstGeom prst="ellipse">
            <a:avLst/>
          </a:prstGeom>
          <a:solidFill>
            <a:schemeClr val="accent1"/>
          </a:solidFill>
          <a:ln w="12700">
            <a:solidFill>
              <a:schemeClr val="accent1"/>
            </a:solidFill>
            <a:prstDash val="solid"/>
          </a:ln>
        </p:spPr>
      </p:sp>
      <p:pic>
        <p:nvPicPr>
          <p:cNvPr id="30" name="Track icon" descr="Track">    </p:cNvPr>
          <p:cNvPicPr>
            <a:picLocks noChangeAspect="1"/>
          </p:cNvPicPr>
          <p:nvPr/>
        </p:nvPicPr>
        <p:blipFill>
          <a:blip r:embed="rId5"/>
          <a:stretch>
            <a:fillRect/>
          </a:stretch>
        </p:blipFill>
        <p:spPr>
          <a:xfrm>
            <a:off x="8725205" y="3116275"/>
            <a:ext cx="351130" cy="351130"/>
          </a:xfrm>
          <a:prstGeom prst="rect">
            <a:avLst/>
          </a:prstGeom>
        </p:spPr>
      </p:pic>
      <p:sp>
        <p:nvSpPr>
          <p:cNvPr id="31" name="Text 24"/>
          <p:cNvSpPr txBox="1"/>
          <p:nvPr/>
        </p:nvSpPr>
        <p:spPr>
          <a:xfrm>
            <a:off x="8169250" y="3794760"/>
            <a:ext cx="1463040" cy="365760"/>
          </a:xfrm>
          <a:prstGeom prst="rect">
            <a:avLst/>
          </a:prstGeom>
          <a:noFill/>
          <a:ln/>
        </p:spPr>
        <p:txBody>
          <a:bodyPr wrap="square" lIns="0" tIns="0" rIns="0" bIns="0" rtlCol="0" anchor="ctr"/>
          <a:lstStyle/>
          <a:p>
            <a:pPr algn="ctr" indent="0" marL="0">
              <a:buNone/>
            </a:pPr>
            <a:r>
              <a:rPr lang="en-US" sz="1700" b="1" dirty="0">
                <a:solidFill>
                  <a:schemeClr val="tx2"/>
                </a:solidFill>
              </a:rPr>
              <a:t>Track</a:t>
            </a:r>
            <a:endParaRPr lang="en-US" sz="1700" dirty="0"/>
          </a:p>
        </p:txBody>
      </p:sp>
      <p:sp>
        <p:nvSpPr>
          <p:cNvPr id="32" name="Text 25"/>
          <p:cNvSpPr txBox="1"/>
          <p:nvPr/>
        </p:nvSpPr>
        <p:spPr>
          <a:xfrm>
            <a:off x="8169250" y="4206240"/>
            <a:ext cx="1463040" cy="1234440"/>
          </a:xfrm>
          <a:prstGeom prst="rect">
            <a:avLst/>
          </a:prstGeom>
          <a:noFill/>
          <a:ln/>
        </p:spPr>
        <p:txBody>
          <a:bodyPr wrap="square" lIns="0" tIns="0" rIns="0" bIns="0" rtlCol="0" anchor="t"/>
          <a:lstStyle/>
          <a:p>
            <a:pPr algn="ctr" indent="0" marL="0">
              <a:buNone/>
            </a:pPr>
            <a:r>
              <a:rPr lang="en-US" sz="1300" dirty="0">
                <a:solidFill>
                  <a:schemeClr val="tx1"/>
                </a:solidFill>
              </a:rPr>
              <a:t>Set deadlines on the Calendar and schedule check-ins</a:t>
            </a:r>
            <a:endParaRPr lang="en-US" sz="1300" dirty="0"/>
          </a:p>
        </p:txBody>
      </p:sp>
      <p:sp>
        <p:nvSpPr>
          <p:cNvPr id="33" name="Deliver step card"/>
          <p:cNvSpPr/>
          <p:nvPr/>
        </p:nvSpPr>
        <p:spPr>
          <a:xfrm>
            <a:off x="9902952" y="2286000"/>
            <a:ext cx="1737360" cy="3291840"/>
          </a:xfrm>
          <a:prstGeom prst="roundRect">
            <a:avLst>
              <a:gd name="adj" fmla="val 4211"/>
            </a:avLst>
          </a:prstGeom>
          <a:solidFill>
            <a:schemeClr val="bg2"/>
          </a:solidFill>
          <a:ln w="12700">
            <a:solidFill>
              <a:schemeClr val="bg2"/>
            </a:solidFill>
            <a:prstDash val="solid"/>
          </a:ln>
        </p:spPr>
      </p:sp>
      <p:sp>
        <p:nvSpPr>
          <p:cNvPr id="34" name="Text 27"/>
          <p:cNvSpPr txBox="1"/>
          <p:nvPr/>
        </p:nvSpPr>
        <p:spPr>
          <a:xfrm>
            <a:off x="10085832" y="2423160"/>
            <a:ext cx="914400" cy="411480"/>
          </a:xfrm>
          <a:prstGeom prst="rect">
            <a:avLst/>
          </a:prstGeom>
          <a:noFill/>
          <a:ln/>
        </p:spPr>
        <p:txBody>
          <a:bodyPr wrap="square" lIns="0" tIns="0" rIns="0" bIns="0" rtlCol="0" anchor="ctr"/>
          <a:lstStyle/>
          <a:p>
            <a:pPr indent="0" marL="0">
              <a:buNone/>
            </a:pPr>
            <a:r>
              <a:rPr lang="en-US" sz="2200" b="1" dirty="0">
                <a:solidFill>
                  <a:schemeClr val="accent5"/>
                </a:solidFill>
                <a:latin typeface="Cambria" pitchFamily="34" charset="0"/>
                <a:ea typeface="Cambria" pitchFamily="34" charset="-122"/>
                <a:cs typeface="Cambria" pitchFamily="34" charset="-120"/>
              </a:rPr>
              <a:t>06</a:t>
            </a:r>
            <a:endParaRPr lang="en-US" sz="2200" dirty="0"/>
          </a:p>
        </p:txBody>
      </p:sp>
      <p:sp>
        <p:nvSpPr>
          <p:cNvPr id="35" name="Deliver circle"/>
          <p:cNvSpPr/>
          <p:nvPr/>
        </p:nvSpPr>
        <p:spPr>
          <a:xfrm>
            <a:off x="10405872" y="2926080"/>
            <a:ext cx="731520" cy="731520"/>
          </a:xfrm>
          <a:prstGeom prst="ellipse">
            <a:avLst/>
          </a:prstGeom>
          <a:solidFill>
            <a:schemeClr val="accent1"/>
          </a:solidFill>
          <a:ln w="12700">
            <a:solidFill>
              <a:schemeClr val="accent1"/>
            </a:solidFill>
            <a:prstDash val="solid"/>
          </a:ln>
        </p:spPr>
      </p:sp>
      <p:pic>
        <p:nvPicPr>
          <p:cNvPr id="36" name="Deliver icon" descr="Deliver">    </p:cNvPr>
          <p:cNvPicPr>
            <a:picLocks noChangeAspect="1"/>
          </p:cNvPicPr>
          <p:nvPr/>
        </p:nvPicPr>
        <p:blipFill>
          <a:blip r:embed="rId6"/>
          <a:stretch>
            <a:fillRect/>
          </a:stretch>
        </p:blipFill>
        <p:spPr>
          <a:xfrm>
            <a:off x="10596067" y="3116275"/>
            <a:ext cx="351130" cy="351130"/>
          </a:xfrm>
          <a:prstGeom prst="rect">
            <a:avLst/>
          </a:prstGeom>
        </p:spPr>
      </p:pic>
      <p:sp>
        <p:nvSpPr>
          <p:cNvPr id="37" name="Text 29"/>
          <p:cNvSpPr txBox="1"/>
          <p:nvPr/>
        </p:nvSpPr>
        <p:spPr>
          <a:xfrm>
            <a:off x="10040112" y="3794760"/>
            <a:ext cx="1463040" cy="365760"/>
          </a:xfrm>
          <a:prstGeom prst="rect">
            <a:avLst/>
          </a:prstGeom>
          <a:noFill/>
          <a:ln/>
        </p:spPr>
        <p:txBody>
          <a:bodyPr wrap="square" lIns="0" tIns="0" rIns="0" bIns="0" rtlCol="0" anchor="ctr"/>
          <a:lstStyle/>
          <a:p>
            <a:pPr algn="ctr" indent="0" marL="0">
              <a:buNone/>
            </a:pPr>
            <a:r>
              <a:rPr lang="en-US" sz="1700" b="1" dirty="0">
                <a:solidFill>
                  <a:schemeClr val="tx2"/>
                </a:solidFill>
              </a:rPr>
              <a:t>Deliver</a:t>
            </a:r>
            <a:endParaRPr lang="en-US" sz="1700" dirty="0"/>
          </a:p>
        </p:txBody>
      </p:sp>
      <p:sp>
        <p:nvSpPr>
          <p:cNvPr id="38" name="Text 30"/>
          <p:cNvSpPr txBox="1"/>
          <p:nvPr/>
        </p:nvSpPr>
        <p:spPr>
          <a:xfrm>
            <a:off x="10040112" y="4206240"/>
            <a:ext cx="1463040" cy="1234440"/>
          </a:xfrm>
          <a:prstGeom prst="rect">
            <a:avLst/>
          </a:prstGeom>
          <a:noFill/>
          <a:ln/>
        </p:spPr>
        <p:txBody>
          <a:bodyPr wrap="square" lIns="0" tIns="0" rIns="0" bIns="0" rtlCol="0" anchor="t"/>
          <a:lstStyle/>
          <a:p>
            <a:pPr algn="ctr" indent="0" marL="0">
              <a:buNone/>
            </a:pPr>
            <a:r>
              <a:rPr lang="en-US" sz="1300" dirty="0">
                <a:solidFill>
                  <a:schemeClr val="tx1"/>
                </a:solidFill>
              </a:rPr>
              <a:t>Share the code link, demo video and proposal in Docs &amp; Files</a:t>
            </a:r>
            <a:endParaRPr lang="en-US" sz="13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548640" y="1207008"/>
            <a:ext cx="11091672" cy="64008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What we observed from the demo</a:t>
            </a:r>
            <a:endParaRPr lang="en-US" sz="3000" dirty="0"/>
          </a:p>
        </p:txBody>
      </p:sp>
      <p:sp>
        <p:nvSpPr>
          <p:cNvPr id="3" name="Single source of truth card"/>
          <p:cNvSpPr/>
          <p:nvPr/>
        </p:nvSpPr>
        <p:spPr>
          <a:xfrm>
            <a:off x="548640" y="2286000"/>
            <a:ext cx="5408676" cy="1600200"/>
          </a:xfrm>
          <a:prstGeom prst="roundRect">
            <a:avLst>
              <a:gd name="adj" fmla="val 4571"/>
            </a:avLst>
          </a:prstGeom>
          <a:solidFill>
            <a:schemeClr val="bg2"/>
          </a:solidFill>
          <a:ln w="12700">
            <a:solidFill>
              <a:schemeClr val="bg2"/>
            </a:solidFill>
            <a:prstDash val="solid"/>
          </a:ln>
        </p:spPr>
      </p:sp>
      <p:sp>
        <p:nvSpPr>
          <p:cNvPr id="4" name="Single source of truth circle"/>
          <p:cNvSpPr/>
          <p:nvPr/>
        </p:nvSpPr>
        <p:spPr>
          <a:xfrm>
            <a:off x="822960" y="2560320"/>
            <a:ext cx="731520" cy="731520"/>
          </a:xfrm>
          <a:prstGeom prst="ellipse">
            <a:avLst/>
          </a:prstGeom>
          <a:solidFill>
            <a:schemeClr val="accent1"/>
          </a:solidFill>
          <a:ln w="12700">
            <a:solidFill>
              <a:schemeClr val="accent1"/>
            </a:solidFill>
            <a:prstDash val="solid"/>
          </a:ln>
        </p:spPr>
      </p:sp>
      <p:pic>
        <p:nvPicPr>
          <p:cNvPr id="5" name="Single source of truth icon" descr="Single source of truth">    </p:cNvPr>
          <p:cNvPicPr>
            <a:picLocks noChangeAspect="1"/>
          </p:cNvPicPr>
          <p:nvPr/>
        </p:nvPicPr>
        <p:blipFill>
          <a:blip r:embed="rId1"/>
          <a:stretch>
            <a:fillRect/>
          </a:stretch>
        </p:blipFill>
        <p:spPr>
          <a:xfrm>
            <a:off x="1013155" y="2750515"/>
            <a:ext cx="351130" cy="351130"/>
          </a:xfrm>
          <a:prstGeom prst="rect">
            <a:avLst/>
          </a:prstGeom>
        </p:spPr>
      </p:pic>
      <p:sp>
        <p:nvSpPr>
          <p:cNvPr id="6" name="Text 3"/>
          <p:cNvSpPr txBox="1"/>
          <p:nvPr/>
        </p:nvSpPr>
        <p:spPr>
          <a:xfrm>
            <a:off x="1783080" y="2514600"/>
            <a:ext cx="3931920" cy="13258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Single source of truth</a:t>
            </a:r>
            <a:endParaRPr lang="en-US" sz="1800" dirty="0"/>
          </a:p>
          <a:p>
            <a:pPr indent="0" marL="0">
              <a:spcAft>
                <a:spcPts val="400"/>
              </a:spcAft>
              <a:buNone/>
            </a:pPr>
            <a:r>
              <a:rPr lang="en-US" sz="1500" dirty="0">
                <a:solidFill>
                  <a:schemeClr val="tx1"/>
                </a:solidFill>
              </a:rPr>
              <a:t>Brief, tasks, files, code link and deadlines all sat in one project instead of separate apps.</a:t>
            </a:r>
            <a:endParaRPr lang="en-US" sz="1800" dirty="0"/>
          </a:p>
        </p:txBody>
      </p:sp>
      <p:sp>
        <p:nvSpPr>
          <p:cNvPr id="7" name="Clear accountability card"/>
          <p:cNvSpPr/>
          <p:nvPr/>
        </p:nvSpPr>
        <p:spPr>
          <a:xfrm>
            <a:off x="6231636" y="2286000"/>
            <a:ext cx="5408676" cy="1600200"/>
          </a:xfrm>
          <a:prstGeom prst="roundRect">
            <a:avLst>
              <a:gd name="adj" fmla="val 4571"/>
            </a:avLst>
          </a:prstGeom>
          <a:solidFill>
            <a:schemeClr val="bg2"/>
          </a:solidFill>
          <a:ln w="12700">
            <a:solidFill>
              <a:schemeClr val="bg2"/>
            </a:solidFill>
            <a:prstDash val="solid"/>
          </a:ln>
        </p:spPr>
      </p:sp>
      <p:sp>
        <p:nvSpPr>
          <p:cNvPr id="8" name="Clear accountability circle"/>
          <p:cNvSpPr/>
          <p:nvPr/>
        </p:nvSpPr>
        <p:spPr>
          <a:xfrm>
            <a:off x="6505956" y="2560320"/>
            <a:ext cx="731520" cy="731520"/>
          </a:xfrm>
          <a:prstGeom prst="ellipse">
            <a:avLst/>
          </a:prstGeom>
          <a:solidFill>
            <a:schemeClr val="accent2"/>
          </a:solidFill>
          <a:ln w="12700">
            <a:solidFill>
              <a:schemeClr val="accent2"/>
            </a:solidFill>
            <a:prstDash val="solid"/>
          </a:ln>
        </p:spPr>
      </p:sp>
      <p:pic>
        <p:nvPicPr>
          <p:cNvPr id="9" name="Clear accountability icon" descr="Clear accountability">    </p:cNvPr>
          <p:cNvPicPr>
            <a:picLocks noChangeAspect="1"/>
          </p:cNvPicPr>
          <p:nvPr/>
        </p:nvPicPr>
        <p:blipFill>
          <a:blip r:embed="rId2"/>
          <a:stretch>
            <a:fillRect/>
          </a:stretch>
        </p:blipFill>
        <p:spPr>
          <a:xfrm>
            <a:off x="6696151" y="2750515"/>
            <a:ext cx="351130" cy="351130"/>
          </a:xfrm>
          <a:prstGeom prst="rect">
            <a:avLst/>
          </a:prstGeom>
        </p:spPr>
      </p:pic>
      <p:sp>
        <p:nvSpPr>
          <p:cNvPr id="10" name="Text 6"/>
          <p:cNvSpPr txBox="1"/>
          <p:nvPr/>
        </p:nvSpPr>
        <p:spPr>
          <a:xfrm>
            <a:off x="7466076" y="2514600"/>
            <a:ext cx="3931920" cy="13258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Clear accountability</a:t>
            </a:r>
            <a:endParaRPr lang="en-US" sz="1800" dirty="0"/>
          </a:p>
          <a:p>
            <a:pPr indent="0" marL="0">
              <a:spcAft>
                <a:spcPts val="400"/>
              </a:spcAft>
              <a:buNone/>
            </a:pPr>
            <a:r>
              <a:rPr lang="en-US" sz="1500" dirty="0">
                <a:solidFill>
                  <a:schemeClr val="tx1"/>
                </a:solidFill>
              </a:rPr>
              <a:t>Each to-do and card has an owner and a due date, so responsibilities were never in doubt.</a:t>
            </a:r>
            <a:endParaRPr lang="en-US" sz="1800" dirty="0"/>
          </a:p>
        </p:txBody>
      </p:sp>
      <p:sp>
        <p:nvSpPr>
          <p:cNvPr id="11" name="Fewer status meetings card"/>
          <p:cNvSpPr/>
          <p:nvPr/>
        </p:nvSpPr>
        <p:spPr>
          <a:xfrm>
            <a:off x="548640" y="4206240"/>
            <a:ext cx="5408676" cy="1600200"/>
          </a:xfrm>
          <a:prstGeom prst="roundRect">
            <a:avLst>
              <a:gd name="adj" fmla="val 4571"/>
            </a:avLst>
          </a:prstGeom>
          <a:solidFill>
            <a:schemeClr val="bg2"/>
          </a:solidFill>
          <a:ln w="12700">
            <a:solidFill>
              <a:schemeClr val="bg2"/>
            </a:solidFill>
            <a:prstDash val="solid"/>
          </a:ln>
        </p:spPr>
      </p:sp>
      <p:sp>
        <p:nvSpPr>
          <p:cNvPr id="12" name="Fewer status meetings circle"/>
          <p:cNvSpPr/>
          <p:nvPr/>
        </p:nvSpPr>
        <p:spPr>
          <a:xfrm>
            <a:off x="822960" y="4480560"/>
            <a:ext cx="731520" cy="731520"/>
          </a:xfrm>
          <a:prstGeom prst="ellipse">
            <a:avLst/>
          </a:prstGeom>
          <a:solidFill>
            <a:schemeClr val="accent2"/>
          </a:solidFill>
          <a:ln w="12700">
            <a:solidFill>
              <a:schemeClr val="accent2"/>
            </a:solidFill>
            <a:prstDash val="solid"/>
          </a:ln>
        </p:spPr>
      </p:sp>
      <p:pic>
        <p:nvPicPr>
          <p:cNvPr id="13" name="Fewer status meetings icon" descr="Fewer status meetings">    </p:cNvPr>
          <p:cNvPicPr>
            <a:picLocks noChangeAspect="1"/>
          </p:cNvPicPr>
          <p:nvPr/>
        </p:nvPicPr>
        <p:blipFill>
          <a:blip r:embed="rId3"/>
          <a:stretch>
            <a:fillRect/>
          </a:stretch>
        </p:blipFill>
        <p:spPr>
          <a:xfrm>
            <a:off x="1013155" y="4670755"/>
            <a:ext cx="351130" cy="351130"/>
          </a:xfrm>
          <a:prstGeom prst="rect">
            <a:avLst/>
          </a:prstGeom>
        </p:spPr>
      </p:pic>
      <p:sp>
        <p:nvSpPr>
          <p:cNvPr id="14" name="Text 9"/>
          <p:cNvSpPr txBox="1"/>
          <p:nvPr/>
        </p:nvSpPr>
        <p:spPr>
          <a:xfrm>
            <a:off x="1783080" y="4434840"/>
            <a:ext cx="3931920" cy="13258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Fewer status meetings</a:t>
            </a:r>
            <a:endParaRPr lang="en-US" sz="1800" dirty="0"/>
          </a:p>
          <a:p>
            <a:pPr indent="0" marL="0">
              <a:spcAft>
                <a:spcPts val="400"/>
              </a:spcAft>
              <a:buNone/>
            </a:pPr>
            <a:r>
              <a:rPr lang="en-US" sz="1500" dirty="0">
                <a:solidFill>
                  <a:schemeClr val="tx1"/>
                </a:solidFill>
              </a:rPr>
              <a:t>Automatic check-ins gathered progress from every member asynchronously.</a:t>
            </a:r>
            <a:endParaRPr lang="en-US" sz="1800" dirty="0"/>
          </a:p>
        </p:txBody>
      </p:sp>
      <p:sp>
        <p:nvSpPr>
          <p:cNvPr id="15" name="Full transparency card"/>
          <p:cNvSpPr/>
          <p:nvPr/>
        </p:nvSpPr>
        <p:spPr>
          <a:xfrm>
            <a:off x="6231636" y="4206240"/>
            <a:ext cx="5408676" cy="1600200"/>
          </a:xfrm>
          <a:prstGeom prst="roundRect">
            <a:avLst>
              <a:gd name="adj" fmla="val 4571"/>
            </a:avLst>
          </a:prstGeom>
          <a:solidFill>
            <a:schemeClr val="bg2"/>
          </a:solidFill>
          <a:ln w="12700">
            <a:solidFill>
              <a:schemeClr val="bg2"/>
            </a:solidFill>
            <a:prstDash val="solid"/>
          </a:ln>
        </p:spPr>
      </p:sp>
      <p:sp>
        <p:nvSpPr>
          <p:cNvPr id="16" name="Full transparency circle"/>
          <p:cNvSpPr/>
          <p:nvPr/>
        </p:nvSpPr>
        <p:spPr>
          <a:xfrm>
            <a:off x="6505956" y="4480560"/>
            <a:ext cx="731520" cy="731520"/>
          </a:xfrm>
          <a:prstGeom prst="ellipse">
            <a:avLst/>
          </a:prstGeom>
          <a:solidFill>
            <a:schemeClr val="accent1"/>
          </a:solidFill>
          <a:ln w="12700">
            <a:solidFill>
              <a:schemeClr val="accent1"/>
            </a:solidFill>
            <a:prstDash val="solid"/>
          </a:ln>
        </p:spPr>
      </p:sp>
      <p:pic>
        <p:nvPicPr>
          <p:cNvPr id="17" name="Full transparency icon" descr="Full transparency">    </p:cNvPr>
          <p:cNvPicPr>
            <a:picLocks noChangeAspect="1"/>
          </p:cNvPicPr>
          <p:nvPr/>
        </p:nvPicPr>
        <p:blipFill>
          <a:blip r:embed="rId4"/>
          <a:stretch>
            <a:fillRect/>
          </a:stretch>
        </p:blipFill>
        <p:spPr>
          <a:xfrm>
            <a:off x="6696151" y="4670755"/>
            <a:ext cx="351130" cy="351130"/>
          </a:xfrm>
          <a:prstGeom prst="rect">
            <a:avLst/>
          </a:prstGeom>
        </p:spPr>
      </p:pic>
      <p:sp>
        <p:nvSpPr>
          <p:cNvPr id="18" name="Text 12"/>
          <p:cNvSpPr txBox="1"/>
          <p:nvPr/>
        </p:nvSpPr>
        <p:spPr>
          <a:xfrm>
            <a:off x="7466076" y="4434840"/>
            <a:ext cx="3931920" cy="13258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Full transparency</a:t>
            </a:r>
            <a:endParaRPr lang="en-US" sz="1800" dirty="0"/>
          </a:p>
          <a:p>
            <a:pPr indent="0" marL="0">
              <a:spcAft>
                <a:spcPts val="400"/>
              </a:spcAft>
              <a:buNone/>
            </a:pPr>
            <a:r>
              <a:rPr lang="en-US" sz="1500" dirty="0">
                <a:solidFill>
                  <a:schemeClr val="tx1"/>
                </a:solidFill>
              </a:rPr>
              <a:t>The activity feed recorded every action with a timestamp, making progress easy to review.</a:t>
            </a: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463040"/>
            <a:ext cx="11091672" cy="64008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Conclusion</a:t>
            </a:r>
            <a:endParaRPr lang="en-US" sz="3200" dirty="0"/>
          </a:p>
        </p:txBody>
      </p:sp>
      <p:sp>
        <p:nvSpPr>
          <p:cNvPr id="3" name="Text 1"/>
          <p:cNvSpPr txBox="1"/>
          <p:nvPr/>
        </p:nvSpPr>
        <p:spPr>
          <a:xfrm>
            <a:off x="548640" y="2240280"/>
            <a:ext cx="11091672" cy="1463040"/>
          </a:xfrm>
          <a:prstGeom prst="rect">
            <a:avLst/>
          </a:prstGeom>
          <a:noFill/>
          <a:ln/>
        </p:spPr>
        <p:txBody>
          <a:bodyPr wrap="square" lIns="0" tIns="0" rIns="0" bIns="0" rtlCol="0" anchor="t"/>
          <a:lstStyle/>
          <a:p>
            <a:pPr indent="0" marL="0">
              <a:buNone/>
            </a:pPr>
            <a:r>
              <a:rPr lang="en-US" sz="1700" dirty="0">
                <a:solidFill>
                  <a:schemeClr val="tx1"/>
                </a:solidFill>
              </a:rPr>
              <a:t>Using Basecamp, our team managed the complete life cycle of the Capstone Project — from creating the project and assigning work to tracking deadlines and submitting deliverables — without switching between tools. Its simple, organised structure made collaboration faster and kept every member informed at every stage.</a:t>
            </a:r>
            <a:endParaRPr lang="en-US" sz="1700" dirty="0"/>
          </a:p>
        </p:txBody>
      </p:sp>
      <p:sp>
        <p:nvSpPr>
          <p:cNvPr id="4" name="Thank you panel"/>
          <p:cNvSpPr/>
          <p:nvPr/>
        </p:nvSpPr>
        <p:spPr>
          <a:xfrm>
            <a:off x="548640" y="4114800"/>
            <a:ext cx="11091672" cy="1920240"/>
          </a:xfrm>
          <a:prstGeom prst="roundRect">
            <a:avLst>
              <a:gd name="adj" fmla="val 4762"/>
            </a:avLst>
          </a:prstGeom>
          <a:solidFill>
            <a:schemeClr val="accent1"/>
          </a:solidFill>
          <a:ln w="12700">
            <a:solidFill>
              <a:schemeClr val="accent1"/>
            </a:solidFill>
            <a:prstDash val="solid"/>
          </a:ln>
        </p:spPr>
      </p:sp>
      <p:sp>
        <p:nvSpPr>
          <p:cNvPr id="5" name="Text 3"/>
          <p:cNvSpPr txBox="1"/>
          <p:nvPr/>
        </p:nvSpPr>
        <p:spPr>
          <a:xfrm>
            <a:off x="548640" y="4343400"/>
            <a:ext cx="11091672" cy="822960"/>
          </a:xfrm>
          <a:prstGeom prst="rect">
            <a:avLst/>
          </a:prstGeom>
          <a:noFill/>
          <a:ln/>
        </p:spPr>
        <p:txBody>
          <a:bodyPr wrap="square" lIns="0" tIns="0" rIns="0" bIns="0" rtlCol="0" anchor="ctr"/>
          <a:lstStyle/>
          <a:p>
            <a:pPr algn="ctr"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6" name="Text 4"/>
          <p:cNvSpPr txBox="1"/>
          <p:nvPr/>
        </p:nvSpPr>
        <p:spPr>
          <a:xfrm>
            <a:off x="548640" y="5212080"/>
            <a:ext cx="11091672" cy="457200"/>
          </a:xfrm>
          <a:prstGeom prst="rect">
            <a:avLst/>
          </a:prstGeom>
          <a:noFill/>
          <a:ln/>
        </p:spPr>
        <p:txBody>
          <a:bodyPr wrap="square" lIns="0" tIns="0" rIns="0" bIns="0" rtlCol="0" anchor="ctr"/>
          <a:lstStyle/>
          <a:p>
            <a:pPr algn="ctr" indent="0" marL="0">
              <a:buNone/>
            </a:pPr>
            <a:r>
              <a:rPr lang="en-US" sz="1800" i="1" dirty="0">
                <a:solidFill>
                  <a:schemeClr val="bg1"/>
                </a:solidFill>
              </a:rPr>
              <a:t>Questions &amp; Discussion</a:t>
            </a:r>
            <a:endParaRPr lang="en-US" sz="1800" dirty="0"/>
          </a:p>
        </p:txBody>
      </p:sp>
    </p:spTree>
  </p:cSld>
  <p:clrMapOvr>
    <a:masterClrMapping/>
  </p:clrMapOvr>
</p:sld>
</file>

<file path=ppt/theme/theme1.xml><?xml version="1.0" encoding="utf-8"?>
<a:theme xmlns:a="http://schemas.openxmlformats.org/drawingml/2006/main" name="NMIMS Basecamp Demo">
  <a:themeElements>
    <a:clrScheme name="NMIMS Basecamp Demo">
      <a:dk1>
        <a:srgbClr val="1F2328"/>
      </a:dk1>
      <a:lt1>
        <a:srgbClr val="FFFFFF"/>
      </a:lt1>
      <a:dk2>
        <a:srgbClr val="2B3640"/>
      </a:dk2>
      <a:lt2>
        <a:srgbClr val="F2F4F6"/>
      </a:lt2>
      <a:accent1>
        <a:srgbClr val="A6192E"/>
      </a:accent1>
      <a:accent2>
        <a:srgbClr val="1D2D35"/>
      </a:accent2>
      <a:accent3>
        <a:srgbClr val="4FA35E"/>
      </a:accent3>
      <a:accent4>
        <a:srgbClr val="D98E2B"/>
      </a:accent4>
      <a:accent5>
        <a:srgbClr val="6B7280"/>
      </a:accent5>
      <a:accent6>
        <a:srgbClr val="7C3AED"/>
      </a:accent6>
      <a:hlink>
        <a:srgbClr val="1D4ED8"/>
      </a:hlink>
      <a:folHlink>
        <a:srgbClr val="6D28D9"/>
      </a:folHlink>
    </a:clrScheme>
    <a:fontScheme name="NMIMS Basecamp Dem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Basecamp – Project Demonstration</dc:title>
  <dc:subject>PptxGenJS Presentation</dc:subject>
  <dc:creator>Group 11</dc:creator>
  <cp:lastModifiedBy>Group 11</cp:lastModifiedBy>
  <cp:revision>1</cp:revision>
  <dcterms:created xsi:type="dcterms:W3CDTF">2026-10-28T06:55:32Z</dcterms:created>
  <dcterms:modified xsi:type="dcterms:W3CDTF">2026-10-28T06:55:32Z</dcterms:modified>
</cp:coreProperties>
</file>